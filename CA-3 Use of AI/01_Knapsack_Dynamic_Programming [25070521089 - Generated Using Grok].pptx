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03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lecture on the 0/1 Knapsack Problem using Dynamic Programming.</a:t>
            </a:r>
          </a:p>
          <a:p>
            <a:r>
              <a:t>Today we will cover:</a:t>
            </a:r>
          </a:p>
          <a:p>
            <a:r>
              <a:t>1. The mathematical definition of 0/1 knapsack and why indivisibility fundamentally changes the problem.</a:t>
            </a:r>
          </a:p>
          <a:p>
            <a:r>
              <a:t>2. A direct comparison demonstrating why greedy strategies based on value-to-weight density fail.</a:t>
            </a:r>
          </a:p>
          <a:p>
            <a:r>
              <a:t>3. The dynamic programming recurrence relation, memoization structure, and step-by-step table fill for a 4-item, capacity-7 instance.</a:t>
            </a:r>
          </a:p>
          <a:p>
            <a:r>
              <a:t>4. Backtracking and traceback to recover the optimal subset in O(n) time.</a:t>
            </a:r>
          </a:p>
          <a:p>
            <a:r>
              <a:t>5. Time and space complexity analysis, the pseudo-polynomial bound, and real-world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establish the formal definition of the 0/1 Knapsack Problem.</a:t>
            </a:r>
          </a:p>
          <a:p>
            <a:r>
              <a:t>Notice that each decision variable x_i is restricted to {0, 1}. This indivisibility is what makes the problem combinatorial and NP-complete in general.</a:t>
            </a:r>
          </a:p>
          <a:p>
            <a:r>
              <a:t>If x_i were allowed to be in [0, 1], we would have the Fractional Knapsack Problem, which is solvable in O(n log n) by a greedy sort.</a:t>
            </a:r>
          </a:p>
          <a:p>
            <a:r>
              <a:t>Here, sorting does not yield the optimal answer.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4 candidate items:</a:t>
            </a:r>
          </a:p>
          <a:p>
            <a:r>
              <a:t>1. Coin: Weight 1, Value 1, Density 1.00</a:t>
            </a:r>
          </a:p>
          <a:p>
            <a:r>
              <a:t>2. Manuscript: Weight 3, Value 4, Density 1.33</a:t>
            </a:r>
          </a:p>
          <a:p>
            <a:r>
              <a:t>3. Lens: Weight 4, Value 5, Density 1.25</a:t>
            </a:r>
          </a:p>
          <a:p>
            <a:r>
              <a:t>4. Astrolabe: Weight 5, Value 7, Density 1.40 (highest density!)</a:t>
            </a:r>
          </a:p>
          <a:p>
            <a:endParaRPr/>
          </a:p>
          <a:p>
            <a:r>
              <a:t>Our knapsack capacity is W = 7. Notice that the Astrolabe has the highest density (1.40), followed by the Manuscript (1.33), Lens (1.25), and Coin (1.00). Keep this order in mind as we evaluate greedy choice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critical for intuition:</a:t>
            </a:r>
          </a:p>
          <a:p>
            <a:r>
              <a:t>Greedy strategy sorts items by density: Astrolabe (1.40), Manuscript (1.33), Lens (1.25), Coin (1.00).</a:t>
            </a:r>
          </a:p>
          <a:p>
            <a:r>
              <a:t>Greedy takes the Astrolabe (5kg, value 7). Remaining capacity is 2kg.</a:t>
            </a:r>
          </a:p>
          <a:p>
            <a:r>
              <a:t>Neither Manuscript (3kg) nor Lens (4kg) can fit in 2kg!</a:t>
            </a:r>
          </a:p>
          <a:p>
            <a:r>
              <a:t>So greedy picks Coin (1kg, value 1). Total weight = 6kg, total value = 8.</a:t>
            </a:r>
          </a:p>
          <a:p>
            <a:r>
              <a:t>However, the true optimum takes Manuscript (3kg, value 4) + Lens (4kg, value 5). Total weight = 7kg, value = 9!</a:t>
            </a:r>
          </a:p>
          <a:p>
            <a:r>
              <a:t>Greedy fails because it leaves capacity empty that cannot be reclaimed.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of dynamic programming is identifying optimal substructure:</a:t>
            </a:r>
          </a:p>
          <a:p>
            <a:r>
              <a:t>An optimal solution to subproblem dp[i][w] contains within it optimal solutions to subproblems of smaller prefixes (i-1) and smaller capacities (w - wt[i]).</a:t>
            </a:r>
          </a:p>
          <a:p>
            <a:r>
              <a:t>Notice that item i is never considered more than once, because the subproblem references dp[i-1][...], which only has access to the first i-1 items.</a:t>
            </a:r>
          </a:p>
          <a:p>
            <a:r>
              <a:t>This guarantees the 0/1 property: an item cannot be chosen multiple times.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full 5 x 8 DP table for our 4 items and capacity 7.</a:t>
            </a:r>
          </a:p>
          <a:p>
            <a:r>
              <a:t>Notice how the table is filled row-by-row:</a:t>
            </a:r>
          </a:p>
          <a:p>
            <a:r>
              <a:t>- Row 0: All zeros (base case).</a:t>
            </a:r>
          </a:p>
          <a:p>
            <a:r>
              <a:t>- Row 1 (Coin, wt 1, val 1): From w=1 up, it fills with 1.</a:t>
            </a:r>
          </a:p>
          <a:p>
            <a:r>
              <a:t>- Row 2 (Manuscript, wt 3, val 4): At w=3, take gives 4. At w=7, take gives 4 + dp[1][4] = 5.</a:t>
            </a:r>
          </a:p>
          <a:p>
            <a:r>
              <a:t>- Row 3 (Lens, wt 4, val 5): At w=7, take gives 5 + dp[2][3] = 5 + 4 = 9!</a:t>
            </a:r>
          </a:p>
          <a:p>
            <a:r>
              <a:t>- Row 4 (Astrolabe, wt 5, val 7): At w=7, take gives 7 + dp[3][2] = 7 + 1 = 8.</a:t>
            </a:r>
          </a:p>
          <a:p>
            <a:r>
              <a:t>Since 9 (skip) beats 8 (take), dp[4][7] stays 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the DP table is complete, finding the actual items requires a simple O(n) traceback:</a:t>
            </a:r>
          </a:p>
          <a:p>
            <a:r>
              <a:t>1. Start at (i=4, w=7). Cell is 9. Compare with cell above (i=3, w=7), which is also 9. Equal means Astrolabe was skipped. w stays 7.</a:t>
            </a:r>
          </a:p>
          <a:p>
            <a:r>
              <a:t>2. At (i=3, w=7). Cell is 9. Above cell (i=2, w=7) is 5. Since 9 &gt; 5, Lens was taken! Remaining capacity becomes 7 - 4 = 3.</a:t>
            </a:r>
          </a:p>
          <a:p>
            <a:r>
              <a:t>3. At (i=2, w=3). Cell is 4. Above cell (i=1, w=3) is 1. Since 4 &gt; 1, Manuscript was taken! Remaining capacity becomes 3 - 3 = 0.</a:t>
            </a:r>
          </a:p>
          <a:p>
            <a:r>
              <a:t>4. At (i=1, w=0). Capacity is 0. Done!</a:t>
            </a:r>
          </a:p>
          <a:p>
            <a:r>
              <a:t>The optimal set is {Manuscript, Lens}.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clean algorithmic pseudocode:</a:t>
            </a:r>
          </a:p>
          <a:p>
            <a:r>
              <a:t>1. `Knapsack`: Takes arrays of values, weights, and integer capacity W. Initializes an (n+1) x (W+1) matrix to zero, then computes bottom-up in row-major order.</a:t>
            </a:r>
          </a:p>
          <a:p>
            <a:r>
              <a:t>2. `Recover`: Takes the filled table and traces backwards from i=n, w=W in at most n steps.</a:t>
            </a:r>
          </a:p>
          <a:p>
            <a:r>
              <a:t>If values are equal, skip is chosen. If strictly greater, item i is included in S, and w is decremented by wt[i].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complexity insights to deliver:</a:t>
            </a:r>
          </a:p>
          <a:p>
            <a:r>
              <a:t>1. Time complexity is O(n*W). Space is O(n*W) for full traceback, or O(W) if only the optimal value is needed.</a:t>
            </a:r>
          </a:p>
          <a:p>
            <a:r>
              <a:t>2. Explain pseudo-polynomial time: Input size of number W is log2(W) bits. Since 2^(log2 W) = W, runtime is exponential in input bits.</a:t>
            </a:r>
          </a:p>
          <a:p>
            <a:r>
              <a:t>3. Contrast with Unbounded Knapsack: Scanning w downwards ensures each item is used at most once (0/1). Scanning w upwards would allow repeated item choices (Unbounded Knapsack)!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a:t>
            </a:r>
          </a:p>
          <a:p>
            <a:r>
              <a:t>The 0/1 Knapsack Problem is archetypal for dynamic programming.</a:t>
            </a:r>
          </a:p>
          <a:p>
            <a:r>
              <a:t>Whenever decisions are indivisible, overlapping subproblems and optimal substructure allow us to replace exponential 2^n recursion with an efficient O(n*W) table fill.</a:t>
            </a:r>
          </a:p>
          <a:p>
            <a:r>
              <a:t>We have seen the problem statement, why greedy fails, the Bellman recurrence, the worked table, traceback recovery, complexity analysis, and real-world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65AD6-7026-C1DD-C3EA-F58BDFB77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0CA5A-7867-DE72-1E60-D854E502261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E5E91A-C160-2FD6-35BA-99EEEDCBF016}"/>
              </a:ext>
            </a:extLst>
          </p:cNvPr>
          <p:cNvSpPr>
            <a:spLocks noGrp="1"/>
          </p:cNvSpPr>
          <p:nvPr>
            <p:ph type="body" sz="quarter" idx="3"/>
          </p:nvPr>
        </p:nvSpPr>
        <p:spPr/>
        <p:txBody>
          <a:bodyPr/>
          <a:lstStyle/>
          <a:p>
            <a:r>
              <a:t>Welcome to the lecture on the 0/1 Knapsack Problem using Dynamic Programming.</a:t>
            </a:r>
          </a:p>
          <a:p>
            <a:r>
              <a:t>Today we will cover:</a:t>
            </a:r>
          </a:p>
          <a:p>
            <a:r>
              <a:t>1. The mathematical definition of 0/1 knapsack and why indivisibility fundamentally changes the problem.</a:t>
            </a:r>
          </a:p>
          <a:p>
            <a:r>
              <a:t>2. A direct comparison demonstrating why greedy strategies based on value-to-weight density fail.</a:t>
            </a:r>
          </a:p>
          <a:p>
            <a:r>
              <a:t>3. The dynamic programming recurrence relation, memoization structure, and step-by-step table fill for a 4-item, capacity-7 instance.</a:t>
            </a:r>
          </a:p>
          <a:p>
            <a:r>
              <a:t>4. Backtracking and traceback to recover the optimal subset in O(n) time.</a:t>
            </a:r>
          </a:p>
          <a:p>
            <a:r>
              <a:t>5. Time and space complexity analysis, the pseudo-polynomial bound, and real-world applications.</a:t>
            </a:r>
          </a:p>
        </p:txBody>
      </p:sp>
      <p:sp>
        <p:nvSpPr>
          <p:cNvPr id="4" name="Slide Number Placeholder 3">
            <a:extLst>
              <a:ext uri="{FF2B5EF4-FFF2-40B4-BE49-F238E27FC236}">
                <a16:creationId xmlns:a16="http://schemas.microsoft.com/office/drawing/2014/main" id="{097D4F1C-C465-BB68-1A9B-EF5797776FAC}"/>
              </a:ext>
            </a:extLst>
          </p:cNvPr>
          <p:cNvSpPr>
            <a:spLocks noGrp="1"/>
          </p:cNvSpPr>
          <p:nvPr>
            <p:ph type="sldNum" sz="quarter" idx="5"/>
          </p:nvPr>
        </p:nvSpPr>
        <p:spPr/>
      </p:sp>
    </p:spTree>
    <p:extLst>
      <p:ext uri="{BB962C8B-B14F-4D97-AF65-F5344CB8AC3E}">
        <p14:creationId xmlns:p14="http://schemas.microsoft.com/office/powerpoint/2010/main" val="4122982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7404591" cy="369332"/>
          </a:xfrm>
          <a:prstGeom prst="rect">
            <a:avLst/>
          </a:prstGeom>
          <a:noFill/>
        </p:spPr>
        <p:txBody>
          <a:bodyPr wrap="none">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01 / 1</a:t>
            </a:r>
            <a:r>
              <a:rPr lang="en-US" sz="1100" b="1" dirty="0">
                <a:solidFill>
                  <a:srgbClr val="7F93AB"/>
                </a:solidFill>
              </a:rPr>
              <a:t>1</a:t>
            </a:r>
            <a:endParaRPr sz="1100" b="1" dirty="0">
              <a:solidFill>
                <a:srgbClr val="7F93AB"/>
              </a:solidFill>
            </a:endParaRPr>
          </a:p>
        </p:txBody>
      </p:sp>
      <p:sp>
        <p:nvSpPr>
          <p:cNvPr id="3" name="TextBox 2"/>
          <p:cNvSpPr txBox="1"/>
          <p:nvPr/>
        </p:nvSpPr>
        <p:spPr>
          <a:xfrm>
            <a:off x="731520" y="1645920"/>
            <a:ext cx="6217920" cy="3559949"/>
          </a:xfrm>
          <a:prstGeom prst="rect">
            <a:avLst/>
          </a:prstGeom>
          <a:noFill/>
        </p:spPr>
        <p:txBody>
          <a:bodyPr wrap="square">
            <a:spAutoFit/>
          </a:bodyPr>
          <a:lstStyle/>
          <a:p>
            <a:pPr>
              <a:defRPr sz="1100" b="1">
                <a:solidFill>
                  <a:srgbClr val="3D7EE8"/>
                </a:solidFill>
              </a:defRPr>
            </a:pPr>
            <a:r>
              <a:rPr dirty="0"/>
              <a:t>DESIGN AND ANALYSIS OF ALGORITHMS</a:t>
            </a:r>
          </a:p>
          <a:p>
            <a:pPr>
              <a:spcBef>
                <a:spcPts val="1600"/>
              </a:spcBef>
              <a:defRPr sz="4400" b="1">
                <a:solidFill>
                  <a:srgbClr val="E7EEF8"/>
                </a:solidFill>
                <a:latin typeface="Georgia"/>
              </a:defRPr>
            </a:pPr>
            <a:r>
              <a:rPr dirty="0"/>
              <a:t>0/1 Knapsack Problem</a:t>
            </a:r>
          </a:p>
          <a:p>
            <a:pPr>
              <a:spcBef>
                <a:spcPts val="1600"/>
              </a:spcBef>
              <a:defRPr sz="2000" i="1">
                <a:solidFill>
                  <a:srgbClr val="9AAFC6"/>
                </a:solidFill>
                <a:latin typeface="Georgia"/>
              </a:defRPr>
            </a:pPr>
            <a:r>
              <a:rPr dirty="0"/>
              <a:t>Dynamic Programming Approach — Design and Analysis of Algorithms</a:t>
            </a:r>
          </a:p>
          <a:p>
            <a:pPr>
              <a:spcBef>
                <a:spcPts val="3600"/>
              </a:spcBef>
              <a:defRPr sz="1200" b="1">
                <a:solidFill>
                  <a:srgbClr val="3D7EE8"/>
                </a:solidFill>
              </a:defRPr>
            </a:pPr>
            <a:r>
              <a:rPr lang="en-US" dirty="0"/>
              <a:t>- </a:t>
            </a:r>
            <a:r>
              <a:rPr dirty="0"/>
              <a:t>Generated using Grok  </a:t>
            </a:r>
          </a:p>
          <a:p>
            <a:pPr>
              <a:spcBef>
                <a:spcPts val="800"/>
              </a:spcBef>
              <a:defRPr sz="1100">
                <a:solidFill>
                  <a:srgbClr val="7F93AB"/>
                </a:solidFill>
              </a:defRPr>
            </a:pPr>
            <a:r>
              <a:rPr dirty="0"/>
              <a:t>Combinatorial optimization  •  Exact dynamic programming  •  Pseudo-polynomial time</a:t>
            </a:r>
          </a:p>
        </p:txBody>
      </p:sp>
      <p:sp>
        <p:nvSpPr>
          <p:cNvPr id="4" name="Rounded Rectangle 3"/>
          <p:cNvSpPr/>
          <p:nvPr/>
        </p:nvSpPr>
        <p:spPr>
          <a:xfrm>
            <a:off x="7315200" y="1645920"/>
            <a:ext cx="4114800" cy="4389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0" y="1828800"/>
            <a:ext cx="3566160" cy="2554545"/>
          </a:xfrm>
          <a:prstGeom prst="rect">
            <a:avLst/>
          </a:prstGeom>
          <a:noFill/>
        </p:spPr>
        <p:txBody>
          <a:bodyPr wrap="square">
            <a:spAutoFit/>
          </a:bodyPr>
          <a:lstStyle/>
          <a:p>
            <a:pPr>
              <a:defRPr sz="1000" b="1">
                <a:solidFill>
                  <a:srgbClr val="7F93AB"/>
                </a:solidFill>
              </a:defRPr>
            </a:pPr>
            <a:r>
              <a:rPr dirty="0"/>
              <a:t>IN THIS </a:t>
            </a:r>
            <a:r>
              <a:rPr lang="en-US" dirty="0"/>
              <a:t>PRESENTATION</a:t>
            </a:r>
            <a:endParaRPr dirty="0"/>
          </a:p>
          <a:p>
            <a:pPr>
              <a:spcBef>
                <a:spcPts val="1800"/>
              </a:spcBef>
            </a:pPr>
            <a:r>
              <a:rPr sz="1600" b="1" dirty="0">
                <a:solidFill>
                  <a:srgbClr val="3D7EE8"/>
                </a:solidFill>
                <a:latin typeface="Georgia"/>
              </a:rPr>
              <a:t>01   </a:t>
            </a:r>
            <a:r>
              <a:rPr sz="1300" dirty="0">
                <a:solidFill>
                  <a:srgbClr val="E7EEF8"/>
                </a:solidFill>
              </a:rPr>
              <a:t>State the problem and the 0/1 constraint</a:t>
            </a:r>
          </a:p>
          <a:p>
            <a:pPr>
              <a:spcBef>
                <a:spcPts val="1800"/>
              </a:spcBef>
            </a:pPr>
            <a:r>
              <a:rPr sz="1600" b="1" dirty="0">
                <a:solidFill>
                  <a:srgbClr val="3D7EE8"/>
                </a:solidFill>
                <a:latin typeface="Georgia"/>
              </a:rPr>
              <a:t>02   </a:t>
            </a:r>
            <a:r>
              <a:rPr sz="1300" dirty="0">
                <a:solidFill>
                  <a:srgbClr val="E7EEF8"/>
                </a:solidFill>
              </a:rPr>
              <a:t>See a density greedy lose to the true optimum</a:t>
            </a:r>
          </a:p>
          <a:p>
            <a:pPr>
              <a:spcBef>
                <a:spcPts val="1800"/>
              </a:spcBef>
            </a:pPr>
            <a:r>
              <a:rPr sz="1600" b="1" dirty="0">
                <a:solidFill>
                  <a:srgbClr val="3D7EE8"/>
                </a:solidFill>
                <a:latin typeface="Georgia"/>
              </a:rPr>
              <a:t>03   </a:t>
            </a:r>
            <a:r>
              <a:rPr sz="1300" dirty="0">
                <a:solidFill>
                  <a:srgbClr val="E7EEF8"/>
                </a:solidFill>
              </a:rPr>
              <a:t>Fill a DP table for four items and capacity 7</a:t>
            </a:r>
          </a:p>
          <a:p>
            <a:pPr>
              <a:spcBef>
                <a:spcPts val="1800"/>
              </a:spcBef>
            </a:pPr>
            <a:r>
              <a:rPr sz="1600" b="1" dirty="0">
                <a:solidFill>
                  <a:srgbClr val="3D7EE8"/>
                </a:solidFill>
                <a:latin typeface="Georgia"/>
              </a:rPr>
              <a:t>04   </a:t>
            </a:r>
            <a:r>
              <a:rPr sz="1300" dirty="0">
                <a:solidFill>
                  <a:srgbClr val="E7EEF8"/>
                </a:solidFill>
              </a:rPr>
              <a:t>Read the subset back out, then count the cost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1650562" cy="36576"/>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02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02 — PROBLEM STATEMENT</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Take every item wholly, or not at all</a:t>
            </a:r>
          </a:p>
        </p:txBody>
      </p:sp>
      <p:sp>
        <p:nvSpPr>
          <p:cNvPr id="7" name="TextBox 6"/>
          <p:cNvSpPr txBox="1"/>
          <p:nvPr/>
        </p:nvSpPr>
        <p:spPr>
          <a:xfrm>
            <a:off x="731520" y="1874519"/>
            <a:ext cx="10728655" cy="457200"/>
          </a:xfrm>
          <a:prstGeom prst="rect">
            <a:avLst/>
          </a:prstGeom>
          <a:noFill/>
        </p:spPr>
        <p:txBody>
          <a:bodyPr wrap="square">
            <a:spAutoFit/>
          </a:bodyPr>
          <a:lstStyle/>
          <a:p>
            <a:pPr>
              <a:defRPr sz="1400">
                <a:solidFill>
                  <a:srgbClr val="9AAFC6"/>
                </a:solidFill>
              </a:defRPr>
            </a:pPr>
            <a:r>
              <a:t>Given n items and a knapsack of capacity W, item i has weight wi and value vi. Choose a subset of maximum total value whose total weight does not exceed W.</a:t>
            </a:r>
          </a:p>
        </p:txBody>
      </p:sp>
      <p:sp>
        <p:nvSpPr>
          <p:cNvPr id="8" name="Rounded Rectangle 7"/>
          <p:cNvSpPr/>
          <p:nvPr/>
        </p:nvSpPr>
        <p:spPr>
          <a:xfrm>
            <a:off x="731520" y="2468880"/>
            <a:ext cx="10728655" cy="1920240"/>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06040"/>
            <a:ext cx="10149840" cy="1645920"/>
          </a:xfrm>
          <a:prstGeom prst="rect">
            <a:avLst/>
          </a:prstGeom>
          <a:noFill/>
        </p:spPr>
        <p:txBody>
          <a:bodyPr wrap="square">
            <a:spAutoFit/>
          </a:bodyPr>
          <a:lstStyle/>
          <a:p>
            <a:pPr>
              <a:defRPr sz="1000" b="1">
                <a:solidFill>
                  <a:srgbClr val="3D7EE8"/>
                </a:solidFill>
              </a:defRPr>
            </a:pPr>
            <a:r>
              <a:t>INTEGER LINEAR PROGRAM FORMULATION</a:t>
            </a:r>
          </a:p>
          <a:p>
            <a:pPr>
              <a:spcBef>
                <a:spcPts val="1000"/>
              </a:spcBef>
              <a:defRPr sz="2000" b="1">
                <a:solidFill>
                  <a:srgbClr val="E7EEF8"/>
                </a:solidFill>
                <a:latin typeface="Georgia"/>
              </a:defRPr>
            </a:pPr>
            <a:r>
              <a:t>maximize    ∑ vi · xi       (for i = 1 to n)</a:t>
            </a:r>
          </a:p>
          <a:p>
            <a:pPr>
              <a:spcBef>
                <a:spcPts val="600"/>
              </a:spcBef>
              <a:defRPr sz="2000" b="1">
                <a:solidFill>
                  <a:srgbClr val="E7EEF8"/>
                </a:solidFill>
                <a:latin typeface="Georgia"/>
              </a:defRPr>
            </a:pPr>
            <a:r>
              <a:t>subject to   ∑ wi · xi ≤ W   and   xi ∈ { 0, 1 }  for every i</a:t>
            </a:r>
          </a:p>
        </p:txBody>
      </p:sp>
      <p:sp>
        <p:nvSpPr>
          <p:cNvPr id="10" name="Rounded Rectangle 9"/>
          <p:cNvSpPr/>
          <p:nvPr/>
        </p:nvSpPr>
        <p:spPr>
          <a:xfrm>
            <a:off x="731520" y="457200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709160"/>
            <a:ext cx="2971800" cy="1463040"/>
          </a:xfrm>
          <a:prstGeom prst="rect">
            <a:avLst/>
          </a:prstGeom>
          <a:noFill/>
        </p:spPr>
        <p:txBody>
          <a:bodyPr wrap="square">
            <a:spAutoFit/>
          </a:bodyPr>
          <a:lstStyle/>
          <a:p>
            <a:pPr>
              <a:defRPr sz="1600" b="1">
                <a:solidFill>
                  <a:srgbClr val="3D7EE8"/>
                </a:solidFill>
                <a:latin typeface="Georgia"/>
              </a:defRPr>
            </a:pPr>
            <a:r>
              <a:t>01</a:t>
            </a:r>
          </a:p>
          <a:p>
            <a:pPr>
              <a:spcBef>
                <a:spcPts val="400"/>
              </a:spcBef>
              <a:defRPr sz="1400" b="1">
                <a:solidFill>
                  <a:srgbClr val="E7EEF8"/>
                </a:solidFill>
              </a:defRPr>
            </a:pPr>
            <a:r>
              <a:t>Input</a:t>
            </a:r>
          </a:p>
          <a:p>
            <a:pPr>
              <a:spcBef>
                <a:spcPts val="400"/>
              </a:spcBef>
              <a:defRPr sz="1100">
                <a:solidFill>
                  <a:srgbClr val="9AAFC6"/>
                </a:solidFill>
              </a:defRPr>
            </a:pPr>
            <a:r>
              <a:t>Non-negative weights wi and values vi, and capacity W. Nothing is assumed sorted.</a:t>
            </a:r>
          </a:p>
        </p:txBody>
      </p:sp>
      <p:sp>
        <p:nvSpPr>
          <p:cNvPr id="12" name="Rounded Rectangle 11"/>
          <p:cNvSpPr/>
          <p:nvPr/>
        </p:nvSpPr>
        <p:spPr>
          <a:xfrm>
            <a:off x="4379976" y="457200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4709160"/>
            <a:ext cx="2971800" cy="1463040"/>
          </a:xfrm>
          <a:prstGeom prst="rect">
            <a:avLst/>
          </a:prstGeom>
          <a:noFill/>
        </p:spPr>
        <p:txBody>
          <a:bodyPr wrap="square">
            <a:spAutoFit/>
          </a:bodyPr>
          <a:lstStyle/>
          <a:p>
            <a:pPr>
              <a:defRPr sz="1600" b="1">
                <a:solidFill>
                  <a:srgbClr val="3D7EE8"/>
                </a:solidFill>
                <a:latin typeface="Georgia"/>
              </a:defRPr>
            </a:pPr>
            <a:r>
              <a:t>02</a:t>
            </a:r>
          </a:p>
          <a:p>
            <a:pPr>
              <a:spcBef>
                <a:spcPts val="400"/>
              </a:spcBef>
              <a:defRPr sz="1400" b="1">
                <a:solidFill>
                  <a:srgbClr val="E7EEF8"/>
                </a:solidFill>
              </a:defRPr>
            </a:pPr>
            <a:r>
              <a:t>Output</a:t>
            </a:r>
          </a:p>
          <a:p>
            <a:pPr>
              <a:spcBef>
                <a:spcPts val="400"/>
              </a:spcBef>
              <a:defRPr sz="1100">
                <a:solidFill>
                  <a:srgbClr val="9AAFC6"/>
                </a:solidFill>
              </a:defRPr>
            </a:pPr>
            <a:r>
              <a:t>The maximum achievable value, and at least one subset attaining it. Multiple subsets may tie.</a:t>
            </a:r>
          </a:p>
        </p:txBody>
      </p:sp>
      <p:sp>
        <p:nvSpPr>
          <p:cNvPr id="14" name="Rounded Rectangle 13"/>
          <p:cNvSpPr/>
          <p:nvPr/>
        </p:nvSpPr>
        <p:spPr>
          <a:xfrm>
            <a:off x="8028432" y="457200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4709160"/>
            <a:ext cx="2971800" cy="1463040"/>
          </a:xfrm>
          <a:prstGeom prst="rect">
            <a:avLst/>
          </a:prstGeom>
          <a:noFill/>
        </p:spPr>
        <p:txBody>
          <a:bodyPr wrap="square">
            <a:spAutoFit/>
          </a:bodyPr>
          <a:lstStyle/>
          <a:p>
            <a:pPr>
              <a:defRPr sz="1600" b="1">
                <a:solidFill>
                  <a:srgbClr val="3D7EE8"/>
                </a:solidFill>
                <a:latin typeface="Georgia"/>
              </a:defRPr>
            </a:pPr>
            <a:r>
              <a:t>03</a:t>
            </a:r>
          </a:p>
          <a:p>
            <a:pPr>
              <a:spcBef>
                <a:spcPts val="400"/>
              </a:spcBef>
              <a:defRPr sz="1400" b="1">
                <a:solidFill>
                  <a:srgbClr val="E7EEF8"/>
                </a:solidFill>
              </a:defRPr>
            </a:pPr>
            <a:r>
              <a:t>The 0/1 Rule</a:t>
            </a:r>
          </a:p>
          <a:p>
            <a:pPr>
              <a:spcBef>
                <a:spcPts val="400"/>
              </a:spcBef>
              <a:defRPr sz="1100">
                <a:solidFill>
                  <a:srgbClr val="9AAFC6"/>
                </a:solidFill>
              </a:defRPr>
            </a:pPr>
            <a:r>
              <a:t>Each decision is strictly binary (take or leave). Fractional knapsack allows splitting; 0/1 does not.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2475843" cy="36576"/>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03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03 — A CONCRETE CASE</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One case, rated for seven kilograms</a:t>
            </a:r>
          </a:p>
        </p:txBody>
      </p:sp>
      <p:sp>
        <p:nvSpPr>
          <p:cNvPr id="7" name="TextBox 6"/>
          <p:cNvSpPr txBox="1"/>
          <p:nvPr/>
        </p:nvSpPr>
        <p:spPr>
          <a:xfrm>
            <a:off x="731520" y="1874519"/>
            <a:ext cx="10728655" cy="457200"/>
          </a:xfrm>
          <a:prstGeom prst="rect">
            <a:avLst/>
          </a:prstGeom>
          <a:noFill/>
        </p:spPr>
        <p:txBody>
          <a:bodyPr wrap="square">
            <a:spAutoFit/>
          </a:bodyPr>
          <a:lstStyle/>
          <a:p>
            <a:pPr>
              <a:defRPr sz="1300">
                <a:solidFill>
                  <a:srgbClr val="9AAFC6"/>
                </a:solidFill>
              </a:defRPr>
            </a:pPr>
            <a:r>
              <a:t>A field team can carry a single case home. Four objects are worth keeping, and none of them can be sawn down to improve the ratio. Value here is scholarly worth, not weight. The same four numbers form our lecture instance.</a:t>
            </a:r>
          </a:p>
        </p:txBody>
      </p:sp>
      <p:sp>
        <p:nvSpPr>
          <p:cNvPr id="8" name="Rounded Rectangle 7"/>
          <p:cNvSpPr/>
          <p:nvPr/>
        </p:nvSpPr>
        <p:spPr>
          <a:xfrm>
            <a:off x="731520" y="2514600"/>
            <a:ext cx="2560320" cy="2103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51760"/>
            <a:ext cx="2194560" cy="1828800"/>
          </a:xfrm>
          <a:prstGeom prst="rect">
            <a:avLst/>
          </a:prstGeom>
          <a:noFill/>
        </p:spPr>
        <p:txBody>
          <a:bodyPr wrap="square">
            <a:spAutoFit/>
          </a:bodyPr>
          <a:lstStyle/>
          <a:p>
            <a:pPr>
              <a:defRPr sz="1000" b="1">
                <a:solidFill>
                  <a:srgbClr val="7F93AB"/>
                </a:solidFill>
              </a:defRPr>
            </a:pPr>
            <a:r>
              <a:t>ITEM 1</a:t>
            </a:r>
          </a:p>
          <a:p>
            <a:pPr>
              <a:spcBef>
                <a:spcPts val="600"/>
              </a:spcBef>
              <a:defRPr sz="2000" b="1">
                <a:solidFill>
                  <a:srgbClr val="E7EEF8"/>
                </a:solidFill>
                <a:latin typeface="Georgia"/>
              </a:defRPr>
            </a:pPr>
            <a:r>
              <a:t>Coin</a:t>
            </a:r>
          </a:p>
          <a:p>
            <a:pPr>
              <a:spcBef>
                <a:spcPts val="1000"/>
              </a:spcBef>
              <a:defRPr sz="1200">
                <a:solidFill>
                  <a:srgbClr val="9AAFC6"/>
                </a:solidFill>
              </a:defRPr>
            </a:pPr>
            <a:r>
              <a:t>weight 1  •  value 1</a:t>
            </a:r>
          </a:p>
          <a:p>
            <a:pPr>
              <a:spcBef>
                <a:spcPts val="400"/>
              </a:spcBef>
              <a:defRPr sz="1200" b="1">
                <a:solidFill>
                  <a:srgbClr val="D4A24C"/>
                </a:solidFill>
              </a:defRPr>
            </a:pPr>
            <a:r>
              <a:t>value / weight : ratio 1.00</a:t>
            </a:r>
          </a:p>
        </p:txBody>
      </p:sp>
      <p:sp>
        <p:nvSpPr>
          <p:cNvPr id="10" name="Rounded Rectangle 9"/>
          <p:cNvSpPr/>
          <p:nvPr/>
        </p:nvSpPr>
        <p:spPr>
          <a:xfrm>
            <a:off x="3456432" y="2514600"/>
            <a:ext cx="2560320" cy="2103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9312" y="2651760"/>
            <a:ext cx="2194560" cy="1828800"/>
          </a:xfrm>
          <a:prstGeom prst="rect">
            <a:avLst/>
          </a:prstGeom>
          <a:noFill/>
        </p:spPr>
        <p:txBody>
          <a:bodyPr wrap="square">
            <a:spAutoFit/>
          </a:bodyPr>
          <a:lstStyle/>
          <a:p>
            <a:pPr>
              <a:defRPr sz="1000" b="1">
                <a:solidFill>
                  <a:srgbClr val="7F93AB"/>
                </a:solidFill>
              </a:defRPr>
            </a:pPr>
            <a:r>
              <a:t>ITEM 2</a:t>
            </a:r>
          </a:p>
          <a:p>
            <a:pPr>
              <a:spcBef>
                <a:spcPts val="600"/>
              </a:spcBef>
              <a:defRPr sz="2000" b="1">
                <a:solidFill>
                  <a:srgbClr val="E7EEF8"/>
                </a:solidFill>
                <a:latin typeface="Georgia"/>
              </a:defRPr>
            </a:pPr>
            <a:r>
              <a:t>Manuscript</a:t>
            </a:r>
          </a:p>
          <a:p>
            <a:pPr>
              <a:spcBef>
                <a:spcPts val="1000"/>
              </a:spcBef>
              <a:defRPr sz="1200">
                <a:solidFill>
                  <a:srgbClr val="9AAFC6"/>
                </a:solidFill>
              </a:defRPr>
            </a:pPr>
            <a:r>
              <a:t>weight 3  •  value 4</a:t>
            </a:r>
          </a:p>
          <a:p>
            <a:pPr>
              <a:spcBef>
                <a:spcPts val="400"/>
              </a:spcBef>
              <a:defRPr sz="1200" b="1">
                <a:solidFill>
                  <a:srgbClr val="D4A24C"/>
                </a:solidFill>
              </a:defRPr>
            </a:pPr>
            <a:r>
              <a:t>value / weight : ratio 1.33</a:t>
            </a:r>
          </a:p>
        </p:txBody>
      </p:sp>
      <p:sp>
        <p:nvSpPr>
          <p:cNvPr id="12" name="Rounded Rectangle 11"/>
          <p:cNvSpPr/>
          <p:nvPr/>
        </p:nvSpPr>
        <p:spPr>
          <a:xfrm>
            <a:off x="6181344" y="2514600"/>
            <a:ext cx="2560320" cy="2103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2651760"/>
            <a:ext cx="2194560" cy="1828800"/>
          </a:xfrm>
          <a:prstGeom prst="rect">
            <a:avLst/>
          </a:prstGeom>
          <a:noFill/>
        </p:spPr>
        <p:txBody>
          <a:bodyPr wrap="square">
            <a:spAutoFit/>
          </a:bodyPr>
          <a:lstStyle/>
          <a:p>
            <a:pPr>
              <a:defRPr sz="1000" b="1">
                <a:solidFill>
                  <a:srgbClr val="7F93AB"/>
                </a:solidFill>
              </a:defRPr>
            </a:pPr>
            <a:r>
              <a:t>ITEM 3</a:t>
            </a:r>
          </a:p>
          <a:p>
            <a:pPr>
              <a:spcBef>
                <a:spcPts val="600"/>
              </a:spcBef>
              <a:defRPr sz="2000" b="1">
                <a:solidFill>
                  <a:srgbClr val="E7EEF8"/>
                </a:solidFill>
                <a:latin typeface="Georgia"/>
              </a:defRPr>
            </a:pPr>
            <a:r>
              <a:t>Lens</a:t>
            </a:r>
          </a:p>
          <a:p>
            <a:pPr>
              <a:spcBef>
                <a:spcPts val="1000"/>
              </a:spcBef>
              <a:defRPr sz="1200">
                <a:solidFill>
                  <a:srgbClr val="9AAFC6"/>
                </a:solidFill>
              </a:defRPr>
            </a:pPr>
            <a:r>
              <a:t>weight 4  •  value 5</a:t>
            </a:r>
          </a:p>
          <a:p>
            <a:pPr>
              <a:spcBef>
                <a:spcPts val="400"/>
              </a:spcBef>
              <a:defRPr sz="1200" b="1">
                <a:solidFill>
                  <a:srgbClr val="D4A24C"/>
                </a:solidFill>
              </a:defRPr>
            </a:pPr>
            <a:r>
              <a:t>value / weight : ratio 1.25</a:t>
            </a:r>
          </a:p>
        </p:txBody>
      </p:sp>
      <p:sp>
        <p:nvSpPr>
          <p:cNvPr id="14" name="Rounded Rectangle 13"/>
          <p:cNvSpPr/>
          <p:nvPr/>
        </p:nvSpPr>
        <p:spPr>
          <a:xfrm>
            <a:off x="8906256" y="2514600"/>
            <a:ext cx="2560320" cy="2103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89136" y="2651760"/>
            <a:ext cx="2194560" cy="1828800"/>
          </a:xfrm>
          <a:prstGeom prst="rect">
            <a:avLst/>
          </a:prstGeom>
          <a:noFill/>
        </p:spPr>
        <p:txBody>
          <a:bodyPr wrap="square">
            <a:spAutoFit/>
          </a:bodyPr>
          <a:lstStyle/>
          <a:p>
            <a:pPr>
              <a:defRPr sz="1000" b="1">
                <a:solidFill>
                  <a:srgbClr val="7F93AB"/>
                </a:solidFill>
              </a:defRPr>
            </a:pPr>
            <a:r>
              <a:t>ITEM 4</a:t>
            </a:r>
          </a:p>
          <a:p>
            <a:pPr>
              <a:spcBef>
                <a:spcPts val="600"/>
              </a:spcBef>
              <a:defRPr sz="2000" b="1">
                <a:solidFill>
                  <a:srgbClr val="E7EEF8"/>
                </a:solidFill>
                <a:latin typeface="Georgia"/>
              </a:defRPr>
            </a:pPr>
            <a:r>
              <a:t>Astrolabe</a:t>
            </a:r>
          </a:p>
          <a:p>
            <a:pPr>
              <a:spcBef>
                <a:spcPts val="1000"/>
              </a:spcBef>
              <a:defRPr sz="1200">
                <a:solidFill>
                  <a:srgbClr val="9AAFC6"/>
                </a:solidFill>
              </a:defRPr>
            </a:pPr>
            <a:r>
              <a:t>weight 5  •  value 7</a:t>
            </a:r>
          </a:p>
          <a:p>
            <a:pPr>
              <a:spcBef>
                <a:spcPts val="400"/>
              </a:spcBef>
              <a:defRPr sz="1200" b="1">
                <a:solidFill>
                  <a:srgbClr val="D4A24C"/>
                </a:solidFill>
              </a:defRPr>
            </a:pPr>
            <a:r>
              <a:t>value / weight : ratio 1.40</a:t>
            </a:r>
          </a:p>
        </p:txBody>
      </p:sp>
      <p:sp>
        <p:nvSpPr>
          <p:cNvPr id="16" name="Rounded Rectangle 15"/>
          <p:cNvSpPr/>
          <p:nvPr/>
        </p:nvSpPr>
        <p:spPr>
          <a:xfrm>
            <a:off x="731520" y="4800600"/>
            <a:ext cx="3429000" cy="15087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892040"/>
            <a:ext cx="2971800" cy="1280160"/>
          </a:xfrm>
          <a:prstGeom prst="rect">
            <a:avLst/>
          </a:prstGeom>
          <a:noFill/>
        </p:spPr>
        <p:txBody>
          <a:bodyPr wrap="square">
            <a:spAutoFit/>
          </a:bodyPr>
          <a:lstStyle/>
          <a:p>
            <a:r>
              <a:rPr sz="1600" b="1">
                <a:solidFill>
                  <a:srgbClr val="3D7EE8"/>
                </a:solidFill>
                <a:latin typeface="Georgia"/>
              </a:rPr>
              <a:t>1  </a:t>
            </a:r>
            <a:r>
              <a:rPr sz="1300" b="1">
                <a:solidFill>
                  <a:srgbClr val="E7EEF8"/>
                </a:solidFill>
              </a:rPr>
              <a:t>Capacity is hard</a:t>
            </a:r>
          </a:p>
          <a:p>
            <a:pPr>
              <a:spcBef>
                <a:spcPts val="400"/>
              </a:spcBef>
              <a:defRPr sz="1100">
                <a:solidFill>
                  <a:srgbClr val="9AAFC6"/>
                </a:solidFill>
              </a:defRPr>
            </a:pPr>
            <a:r>
              <a:t>The case holds 7 kg and not a single gram more. Weight limit W = 7 is inviolable.</a:t>
            </a:r>
          </a:p>
        </p:txBody>
      </p:sp>
      <p:sp>
        <p:nvSpPr>
          <p:cNvPr id="18" name="Rounded Rectangle 17"/>
          <p:cNvSpPr/>
          <p:nvPr/>
        </p:nvSpPr>
        <p:spPr>
          <a:xfrm>
            <a:off x="4379976" y="4800600"/>
            <a:ext cx="3429000" cy="15087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08576" y="4892040"/>
            <a:ext cx="2971800" cy="1280160"/>
          </a:xfrm>
          <a:prstGeom prst="rect">
            <a:avLst/>
          </a:prstGeom>
          <a:noFill/>
        </p:spPr>
        <p:txBody>
          <a:bodyPr wrap="square">
            <a:spAutoFit/>
          </a:bodyPr>
          <a:lstStyle/>
          <a:p>
            <a:r>
              <a:rPr sz="1600" b="1">
                <a:solidFill>
                  <a:srgbClr val="3D7EE8"/>
                </a:solidFill>
                <a:latin typeface="Georgia"/>
              </a:rPr>
              <a:t>2  </a:t>
            </a:r>
            <a:r>
              <a:rPr sz="1300" b="1">
                <a:solidFill>
                  <a:srgbClr val="E7EEF8"/>
                </a:solidFill>
              </a:rPr>
              <a:t>The choice is binary</a:t>
            </a:r>
          </a:p>
          <a:p>
            <a:pPr>
              <a:spcBef>
                <a:spcPts val="400"/>
              </a:spcBef>
              <a:defRPr sz="1100">
                <a:solidFill>
                  <a:srgbClr val="9AAFC6"/>
                </a:solidFill>
              </a:defRPr>
            </a:pPr>
            <a:r>
              <a:t>A lens taken in part is not a feasible object. Items are taken 100% or left behind.</a:t>
            </a:r>
          </a:p>
        </p:txBody>
      </p:sp>
      <p:sp>
        <p:nvSpPr>
          <p:cNvPr id="20" name="Rounded Rectangle 19"/>
          <p:cNvSpPr/>
          <p:nvPr/>
        </p:nvSpPr>
        <p:spPr>
          <a:xfrm>
            <a:off x="8028432" y="4800600"/>
            <a:ext cx="3429000" cy="15087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57032" y="4892040"/>
            <a:ext cx="2971800" cy="1280160"/>
          </a:xfrm>
          <a:prstGeom prst="rect">
            <a:avLst/>
          </a:prstGeom>
          <a:noFill/>
        </p:spPr>
        <p:txBody>
          <a:bodyPr wrap="square">
            <a:spAutoFit/>
          </a:bodyPr>
          <a:lstStyle/>
          <a:p>
            <a:r>
              <a:rPr sz="1600" b="1">
                <a:solidFill>
                  <a:srgbClr val="3D7EE8"/>
                </a:solidFill>
                <a:latin typeface="Georgia"/>
              </a:rPr>
              <a:t>3  </a:t>
            </a:r>
            <a:r>
              <a:rPr sz="1300" b="1">
                <a:solidFill>
                  <a:srgbClr val="E7EEF8"/>
                </a:solidFill>
              </a:rPr>
              <a:t>Objective is total value</a:t>
            </a:r>
          </a:p>
          <a:p>
            <a:pPr>
              <a:spcBef>
                <a:spcPts val="400"/>
              </a:spcBef>
              <a:defRPr sz="1100">
                <a:solidFill>
                  <a:srgbClr val="9AAFC6"/>
                </a:solidFill>
              </a:defRPr>
            </a:pPr>
            <a:r>
              <a:t>The heaviest legal load need not win. We maximize sum of values, not consumed weight.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3301124" cy="36576"/>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04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04 — WHY GREEDY FAILS</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Best density is not the best subset</a:t>
            </a:r>
          </a:p>
        </p:txBody>
      </p:sp>
      <p:sp>
        <p:nvSpPr>
          <p:cNvPr id="7" name="TextBox 6"/>
          <p:cNvSpPr txBox="1"/>
          <p:nvPr/>
        </p:nvSpPr>
        <p:spPr>
          <a:xfrm>
            <a:off x="731520" y="1874519"/>
            <a:ext cx="10728655" cy="411480"/>
          </a:xfrm>
          <a:prstGeom prst="rect">
            <a:avLst/>
          </a:prstGeom>
          <a:noFill/>
        </p:spPr>
        <p:txBody>
          <a:bodyPr wrap="square">
            <a:spAutoFit/>
          </a:bodyPr>
          <a:lstStyle/>
          <a:p>
            <a:pPr>
              <a:defRPr sz="1200">
                <a:solidFill>
                  <a:srgbClr val="9AAFC6"/>
                </a:solidFill>
              </a:defRPr>
            </a:pPr>
            <a:r>
              <a:t>Fractional knapsack sorts by vi / wi and takes items greedily, splitting if needed (optimal in O(n log n)). But in 0/1 knapsack, forcing binary choice destroys greedy optimality. The locally best choice misses the global optimum.</a:t>
            </a:r>
          </a:p>
        </p:txBody>
      </p:sp>
      <p:sp>
        <p:nvSpPr>
          <p:cNvPr id="8" name="Rounded Rectangle 7"/>
          <p:cNvSpPr/>
          <p:nvPr/>
        </p:nvSpPr>
        <p:spPr>
          <a:xfrm>
            <a:off x="731520" y="2423160"/>
            <a:ext cx="5212080" cy="338328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560320"/>
            <a:ext cx="4754880" cy="3108960"/>
          </a:xfrm>
          <a:prstGeom prst="rect">
            <a:avLst/>
          </a:prstGeom>
          <a:noFill/>
        </p:spPr>
        <p:txBody>
          <a:bodyPr wrap="square">
            <a:spAutoFit/>
          </a:bodyPr>
          <a:lstStyle/>
          <a:p>
            <a:pPr>
              <a:defRPr sz="1000" b="1">
                <a:solidFill>
                  <a:srgbClr val="7F93AB"/>
                </a:solidFill>
              </a:defRPr>
            </a:pPr>
            <a:r>
              <a:t>GREEDY BY DENSITY (v/w)</a:t>
            </a:r>
          </a:p>
          <a:p>
            <a:pPr>
              <a:spcBef>
                <a:spcPts val="600"/>
              </a:spcBef>
            </a:pPr>
            <a:r>
              <a:rPr sz="3600" b="1">
                <a:solidFill>
                  <a:srgbClr val="E7EEF8"/>
                </a:solidFill>
                <a:latin typeface="Georgia"/>
              </a:rPr>
              <a:t>8  </a:t>
            </a:r>
            <a:r>
              <a:rPr sz="1400" b="1">
                <a:solidFill>
                  <a:srgbClr val="D4A24C"/>
                </a:solidFill>
              </a:rPr>
              <a:t>(Suboptimal)</a:t>
            </a:r>
          </a:p>
          <a:p>
            <a:pPr>
              <a:spcBef>
                <a:spcPts val="1000"/>
              </a:spcBef>
              <a:defRPr sz="1100">
                <a:solidFill>
                  <a:srgbClr val="E7EEF8"/>
                </a:solidFill>
              </a:defRPr>
            </a:pPr>
            <a:r>
              <a:t>1. Astrolabe (w=5, v=7, r=1.40)  ➔  TAKE (5 kg used, 2 kg left)</a:t>
            </a:r>
            <a:br/>
            <a:r>
              <a:t>2. Manuscript (w=3, v=4, r=1.33)  ➔  SKIP (doesn't fit!)</a:t>
            </a:r>
            <a:br/>
            <a:r>
              <a:t>3. Lens (w=4, v=5, r=1.25)  ➔  SKIP (doesn't fit!)</a:t>
            </a:r>
            <a:br/>
            <a:r>
              <a:t>4. Coin (w=1, v=1, r=1.00)  ➔  TAKE (1 kg used, 1 kg left)</a:t>
            </a:r>
          </a:p>
          <a:p>
            <a:pPr>
              <a:spcBef>
                <a:spcPts val="1200"/>
              </a:spcBef>
              <a:defRPr sz="1100">
                <a:solidFill>
                  <a:srgbClr val="9AAFC6"/>
                </a:solidFill>
              </a:defRPr>
            </a:pPr>
            <a:r>
              <a:t>Load: Astrolabe (5kg) + Coin (1kg) = 6kg. Total Value = 8.</a:t>
            </a:r>
            <a:br/>
            <a:r>
              <a:t>1 kilogram of capacity is left unused and wasted!</a:t>
            </a:r>
          </a:p>
        </p:txBody>
      </p:sp>
      <p:sp>
        <p:nvSpPr>
          <p:cNvPr id="10" name="Rounded Rectangle 9"/>
          <p:cNvSpPr/>
          <p:nvPr/>
        </p:nvSpPr>
        <p:spPr>
          <a:xfrm>
            <a:off x="6248095" y="2423160"/>
            <a:ext cx="5212080" cy="3383280"/>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6695" y="2560320"/>
            <a:ext cx="4754880" cy="3108960"/>
          </a:xfrm>
          <a:prstGeom prst="rect">
            <a:avLst/>
          </a:prstGeom>
          <a:noFill/>
        </p:spPr>
        <p:txBody>
          <a:bodyPr wrap="square">
            <a:spAutoFit/>
          </a:bodyPr>
          <a:lstStyle/>
          <a:p>
            <a:pPr>
              <a:defRPr sz="1000" b="1">
                <a:solidFill>
                  <a:srgbClr val="3D7EE8"/>
                </a:solidFill>
              </a:defRPr>
            </a:pPr>
            <a:r>
              <a:t>OPTIMAL 0/1 SUBSET (DP)</a:t>
            </a:r>
          </a:p>
          <a:p>
            <a:pPr>
              <a:spcBef>
                <a:spcPts val="600"/>
              </a:spcBef>
            </a:pPr>
            <a:r>
              <a:rPr sz="3600" b="1">
                <a:solidFill>
                  <a:srgbClr val="3D7EE8"/>
                </a:solidFill>
                <a:latin typeface="Georgia"/>
              </a:rPr>
              <a:t>9  </a:t>
            </a:r>
            <a:r>
              <a:rPr sz="1400" b="1">
                <a:solidFill>
                  <a:srgbClr val="10B981"/>
                </a:solidFill>
              </a:rPr>
              <a:t>(Global Optimum)</a:t>
            </a:r>
          </a:p>
          <a:p>
            <a:pPr>
              <a:spcBef>
                <a:spcPts val="1000"/>
              </a:spcBef>
              <a:defRPr sz="1100">
                <a:solidFill>
                  <a:srgbClr val="E7EEF8"/>
                </a:solidFill>
              </a:defRPr>
            </a:pPr>
            <a:r>
              <a:t>• Manuscript: weight 3, value 4</a:t>
            </a:r>
            <a:br/>
            <a:r>
              <a:t>• Lens: weight 4, value 5</a:t>
            </a:r>
            <a:br/>
            <a:br/>
            <a:r>
              <a:t>Total Weight = 3 + 4 = 7 kg (100% capacity filled!)</a:t>
            </a:r>
            <a:br/>
            <a:r>
              <a:t>Total Value = 4 + 5 = 9 (Beats greedy by +1)</a:t>
            </a:r>
          </a:p>
          <a:p>
            <a:pPr>
              <a:spcBef>
                <a:spcPts val="1200"/>
              </a:spcBef>
              <a:defRPr sz="1100" b="1">
                <a:solidFill>
                  <a:srgbClr val="D4A24C"/>
                </a:solidFill>
              </a:defRPr>
            </a:pPr>
            <a:r>
              <a:t>Notice: The locally best item (Astrolabe, ratio 1.40) is completely discarded in order to achieve the globally optimal packing!</a:t>
            </a:r>
          </a:p>
        </p:txBody>
      </p:sp>
      <p:sp>
        <p:nvSpPr>
          <p:cNvPr id="12" name="Rounded Rectangle 11"/>
          <p:cNvSpPr/>
          <p:nvPr/>
        </p:nvSpPr>
        <p:spPr>
          <a:xfrm>
            <a:off x="731520" y="5897880"/>
            <a:ext cx="10728655" cy="594360"/>
          </a:xfrm>
          <a:prstGeom prst="roundRect">
            <a:avLst/>
          </a:prstGeom>
          <a:solidFill>
            <a:srgbClr val="17263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943600"/>
            <a:ext cx="10332720" cy="502920"/>
          </a:xfrm>
          <a:prstGeom prst="rect">
            <a:avLst/>
          </a:prstGeom>
          <a:noFill/>
        </p:spPr>
        <p:txBody>
          <a:bodyPr wrap="square">
            <a:spAutoFit/>
          </a:bodyPr>
          <a:lstStyle/>
          <a:p>
            <a:pPr>
              <a:defRPr sz="1100">
                <a:solidFill>
                  <a:srgbClr val="E7EEF8"/>
                </a:solidFill>
              </a:defRPr>
            </a:pPr>
            <a:r>
              <a:t>If item splitting were legal (Fractional Knapsack), greedy would take Astrolabe (5kg) + 2/3 of Manuscript (2kg) = value 7 + 2.67 = 9.67. Under the 0/1 integer constraint, dynamic programming is strictly required.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4126405" cy="36576"/>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05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05 — DYNAMIC PROGRAMMING FORMULATION</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One subproblem per prefix and capacity</a:t>
            </a:r>
          </a:p>
        </p:txBody>
      </p:sp>
      <p:sp>
        <p:nvSpPr>
          <p:cNvPr id="7" name="TextBox 6"/>
          <p:cNvSpPr txBox="1"/>
          <p:nvPr/>
        </p:nvSpPr>
        <p:spPr>
          <a:xfrm>
            <a:off x="731520" y="1874519"/>
            <a:ext cx="10728655" cy="411480"/>
          </a:xfrm>
          <a:prstGeom prst="rect">
            <a:avLst/>
          </a:prstGeom>
          <a:noFill/>
        </p:spPr>
        <p:txBody>
          <a:bodyPr wrap="square">
            <a:spAutoFit/>
          </a:bodyPr>
          <a:lstStyle/>
          <a:p>
            <a:pPr>
              <a:defRPr sz="1200">
                <a:solidFill>
                  <a:srgbClr val="9AAFC6"/>
                </a:solidFill>
              </a:defRPr>
            </a:pPr>
            <a:r>
              <a:t>Let dp[i][w] be the maximum value achievable using only a subset of the first i items under capacity limit w. Each decision either skips item i, or takes it (if wt[i] ≤ w) and adds the optimal packing of remaining capacity.</a:t>
            </a:r>
          </a:p>
        </p:txBody>
      </p:sp>
      <p:sp>
        <p:nvSpPr>
          <p:cNvPr id="8" name="Rounded Rectangle 7"/>
          <p:cNvSpPr/>
          <p:nvPr/>
        </p:nvSpPr>
        <p:spPr>
          <a:xfrm>
            <a:off x="731520" y="2377440"/>
            <a:ext cx="10728655" cy="1920240"/>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514600"/>
            <a:ext cx="10149840" cy="1645920"/>
          </a:xfrm>
          <a:prstGeom prst="rect">
            <a:avLst/>
          </a:prstGeom>
          <a:noFill/>
        </p:spPr>
        <p:txBody>
          <a:bodyPr wrap="square">
            <a:spAutoFit/>
          </a:bodyPr>
          <a:lstStyle/>
          <a:p>
            <a:pPr>
              <a:defRPr sz="1000" b="1">
                <a:solidFill>
                  <a:srgbClr val="3D7EE8"/>
                </a:solidFill>
              </a:defRPr>
            </a:pPr>
            <a:r>
              <a:t>THE BELLMAN OPTIMALITY RECURRENCE</a:t>
            </a:r>
          </a:p>
          <a:p>
            <a:pPr>
              <a:spcBef>
                <a:spcPts val="800"/>
              </a:spcBef>
              <a:defRPr sz="1900" b="1">
                <a:solidFill>
                  <a:srgbClr val="E7EEF8"/>
                </a:solidFill>
                <a:latin typeface="Georgia"/>
              </a:defRPr>
            </a:pPr>
            <a:r>
              <a:t>dp[i][w] = max( dp[i−1][w] ,  val[i] + dp[i−1][w − wt[i]] )   when wt[i] ≤ w</a:t>
            </a:r>
          </a:p>
          <a:p>
            <a:pPr>
              <a:spcBef>
                <a:spcPts val="600"/>
              </a:spcBef>
              <a:defRPr sz="1900" b="1">
                <a:solidFill>
                  <a:srgbClr val="9AAFC6"/>
                </a:solidFill>
                <a:latin typeface="Georgia"/>
              </a:defRPr>
            </a:pPr>
            <a:r>
              <a:t>dp[i][w] = dp[i−1][w]                                                      when wt[i] &gt; w</a:t>
            </a:r>
          </a:p>
        </p:txBody>
      </p:sp>
      <p:sp>
        <p:nvSpPr>
          <p:cNvPr id="10" name="Rounded Rectangle 9"/>
          <p:cNvSpPr/>
          <p:nvPr/>
        </p:nvSpPr>
        <p:spPr>
          <a:xfrm>
            <a:off x="731520" y="4434840"/>
            <a:ext cx="3429000" cy="19659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572000"/>
            <a:ext cx="2971800" cy="1691640"/>
          </a:xfrm>
          <a:prstGeom prst="rect">
            <a:avLst/>
          </a:prstGeom>
          <a:noFill/>
        </p:spPr>
        <p:txBody>
          <a:bodyPr wrap="square">
            <a:spAutoFit/>
          </a:bodyPr>
          <a:lstStyle/>
          <a:p>
            <a:pPr>
              <a:defRPr sz="1400" b="1">
                <a:solidFill>
                  <a:srgbClr val="3D7EE8"/>
                </a:solidFill>
              </a:defRPr>
            </a:pPr>
            <a:r>
              <a:t>Skip Option</a:t>
            </a:r>
          </a:p>
          <a:p>
            <a:pPr>
              <a:spcBef>
                <a:spcPts val="400"/>
              </a:spcBef>
              <a:defRPr sz="1300" b="1">
                <a:solidFill>
                  <a:srgbClr val="E7EEF8"/>
                </a:solidFill>
                <a:latin typeface="Georgia"/>
              </a:defRPr>
            </a:pPr>
            <a:r>
              <a:t>dp[i−1][w]</a:t>
            </a:r>
          </a:p>
          <a:p>
            <a:pPr>
              <a:spcBef>
                <a:spcPts val="600"/>
              </a:spcBef>
              <a:defRPr sz="1100">
                <a:solidFill>
                  <a:srgbClr val="9AAFC6"/>
                </a:solidFill>
              </a:defRPr>
            </a:pPr>
            <a:r>
              <a:t>Leave item i behind. The best value is simply the optimal packing of earlier i−1 items at the exact same capacity w.</a:t>
            </a:r>
          </a:p>
        </p:txBody>
      </p:sp>
      <p:sp>
        <p:nvSpPr>
          <p:cNvPr id="12" name="Rounded Rectangle 11"/>
          <p:cNvSpPr/>
          <p:nvPr/>
        </p:nvSpPr>
        <p:spPr>
          <a:xfrm>
            <a:off x="4379976" y="4434840"/>
            <a:ext cx="3429000" cy="19659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4572000"/>
            <a:ext cx="2971800" cy="1691640"/>
          </a:xfrm>
          <a:prstGeom prst="rect">
            <a:avLst/>
          </a:prstGeom>
          <a:noFill/>
        </p:spPr>
        <p:txBody>
          <a:bodyPr wrap="square">
            <a:spAutoFit/>
          </a:bodyPr>
          <a:lstStyle/>
          <a:p>
            <a:pPr>
              <a:defRPr sz="1400" b="1">
                <a:solidFill>
                  <a:srgbClr val="3D7EE8"/>
                </a:solidFill>
              </a:defRPr>
            </a:pPr>
            <a:r>
              <a:t>Take Option</a:t>
            </a:r>
          </a:p>
          <a:p>
            <a:pPr>
              <a:spcBef>
                <a:spcPts val="400"/>
              </a:spcBef>
              <a:defRPr sz="1300" b="1">
                <a:solidFill>
                  <a:srgbClr val="E7EEF8"/>
                </a:solidFill>
                <a:latin typeface="Georgia"/>
              </a:defRPr>
            </a:pPr>
            <a:r>
              <a:t>val[i] + dp[i−1][w − wt[i]]</a:t>
            </a:r>
          </a:p>
          <a:p>
            <a:pPr>
              <a:spcBef>
                <a:spcPts val="600"/>
              </a:spcBef>
              <a:defRPr sz="1100">
                <a:solidFill>
                  <a:srgbClr val="9AAFC6"/>
                </a:solidFill>
              </a:defRPr>
            </a:pPr>
            <a:r>
              <a:t>Include item i. Earn its value val[i], and add the optimal packing of the remaining capacity (w − wt[i]) using the previous i−1 items.</a:t>
            </a:r>
          </a:p>
        </p:txBody>
      </p:sp>
      <p:sp>
        <p:nvSpPr>
          <p:cNvPr id="14" name="Rounded Rectangle 13"/>
          <p:cNvSpPr/>
          <p:nvPr/>
        </p:nvSpPr>
        <p:spPr>
          <a:xfrm>
            <a:off x="8028432" y="4434840"/>
            <a:ext cx="3429000" cy="19659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4572000"/>
            <a:ext cx="2971800" cy="1691640"/>
          </a:xfrm>
          <a:prstGeom prst="rect">
            <a:avLst/>
          </a:prstGeom>
          <a:noFill/>
        </p:spPr>
        <p:txBody>
          <a:bodyPr wrap="square">
            <a:spAutoFit/>
          </a:bodyPr>
          <a:lstStyle/>
          <a:p>
            <a:pPr>
              <a:defRPr sz="1400" b="1">
                <a:solidFill>
                  <a:srgbClr val="3D7EE8"/>
                </a:solidFill>
              </a:defRPr>
            </a:pPr>
            <a:r>
              <a:t>Base Cases</a:t>
            </a:r>
          </a:p>
          <a:p>
            <a:pPr>
              <a:spcBef>
                <a:spcPts val="400"/>
              </a:spcBef>
              <a:defRPr sz="1300" b="1">
                <a:solidFill>
                  <a:srgbClr val="E7EEF8"/>
                </a:solidFill>
                <a:latin typeface="Georgia"/>
              </a:defRPr>
            </a:pPr>
            <a:r>
              <a:t>dp[0][w] = 0  and  dp[i][0] = 0</a:t>
            </a:r>
          </a:p>
          <a:p>
            <a:pPr>
              <a:spcBef>
                <a:spcPts val="600"/>
              </a:spcBef>
              <a:defRPr sz="1100">
                <a:solidFill>
                  <a:srgbClr val="9AAFC6"/>
                </a:solidFill>
              </a:defRPr>
            </a:pPr>
            <a:r>
              <a:t>With 0 items available, value is 0 for all capacities. With 0 capacity available, value is 0 for all item prefixes.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4951687" cy="36576"/>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06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06 — WORKED EXAMPLE</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Capacity 7, built one item at a time</a:t>
            </a:r>
          </a:p>
        </p:txBody>
      </p:sp>
      <p:graphicFrame>
        <p:nvGraphicFramePr>
          <p:cNvPr id="7" name="Table 6"/>
          <p:cNvGraphicFramePr>
            <a:graphicFrameLocks noGrp="1"/>
          </p:cNvGraphicFramePr>
          <p:nvPr/>
        </p:nvGraphicFramePr>
        <p:xfrm>
          <a:off x="731520" y="1920240"/>
          <a:ext cx="6217920" cy="39319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gridCol w="640080">
                  <a:extLst>
                    <a:ext uri="{9D8B030D-6E8A-4147-A177-3AD203B41FA5}">
                      <a16:colId xmlns:a16="http://schemas.microsoft.com/office/drawing/2014/main" val="20008"/>
                    </a:ext>
                  </a:extLst>
                </a:gridCol>
              </a:tblGrid>
              <a:tr h="655320">
                <a:tc>
                  <a:txBody>
                    <a:bodyPr/>
                    <a:lstStyle/>
                    <a:p>
                      <a:pPr algn="l">
                        <a:defRPr sz="1200" b="1">
                          <a:solidFill>
                            <a:srgbClr val="7F93AB"/>
                          </a:solidFill>
                        </a:defRPr>
                      </a:pPr>
                      <a:r>
                        <a:t>i \ w</a:t>
                      </a:r>
                    </a:p>
                  </a:txBody>
                  <a:tcPr>
                    <a:solidFill>
                      <a:srgbClr val="101B2C"/>
                    </a:solidFill>
                  </a:tcPr>
                </a:tc>
                <a:tc>
                  <a:txBody>
                    <a:bodyPr/>
                    <a:lstStyle/>
                    <a:p>
                      <a:pPr algn="ctr">
                        <a:defRPr sz="1200" b="1">
                          <a:solidFill>
                            <a:srgbClr val="7F93AB"/>
                          </a:solidFill>
                        </a:defRPr>
                      </a:pPr>
                      <a:r>
                        <a:t>0</a:t>
                      </a:r>
                    </a:p>
                  </a:txBody>
                  <a:tcPr>
                    <a:solidFill>
                      <a:srgbClr val="101B2C"/>
                    </a:solidFill>
                  </a:tcPr>
                </a:tc>
                <a:tc>
                  <a:txBody>
                    <a:bodyPr/>
                    <a:lstStyle/>
                    <a:p>
                      <a:pPr algn="ctr">
                        <a:defRPr sz="1200" b="1">
                          <a:solidFill>
                            <a:srgbClr val="7F93AB"/>
                          </a:solidFill>
                        </a:defRPr>
                      </a:pPr>
                      <a:r>
                        <a:t>1</a:t>
                      </a:r>
                    </a:p>
                  </a:txBody>
                  <a:tcPr>
                    <a:solidFill>
                      <a:srgbClr val="101B2C"/>
                    </a:solidFill>
                  </a:tcPr>
                </a:tc>
                <a:tc>
                  <a:txBody>
                    <a:bodyPr/>
                    <a:lstStyle/>
                    <a:p>
                      <a:pPr algn="ctr">
                        <a:defRPr sz="1200" b="1">
                          <a:solidFill>
                            <a:srgbClr val="7F93AB"/>
                          </a:solidFill>
                        </a:defRPr>
                      </a:pPr>
                      <a:r>
                        <a:t>2</a:t>
                      </a:r>
                    </a:p>
                  </a:txBody>
                  <a:tcPr>
                    <a:solidFill>
                      <a:srgbClr val="101B2C"/>
                    </a:solidFill>
                  </a:tcPr>
                </a:tc>
                <a:tc>
                  <a:txBody>
                    <a:bodyPr/>
                    <a:lstStyle/>
                    <a:p>
                      <a:pPr algn="ctr">
                        <a:defRPr sz="1200" b="1">
                          <a:solidFill>
                            <a:srgbClr val="7F93AB"/>
                          </a:solidFill>
                        </a:defRPr>
                      </a:pPr>
                      <a:r>
                        <a:t>3</a:t>
                      </a:r>
                    </a:p>
                  </a:txBody>
                  <a:tcPr>
                    <a:solidFill>
                      <a:srgbClr val="101B2C"/>
                    </a:solidFill>
                  </a:tcPr>
                </a:tc>
                <a:tc>
                  <a:txBody>
                    <a:bodyPr/>
                    <a:lstStyle/>
                    <a:p>
                      <a:pPr algn="ctr">
                        <a:defRPr sz="1200" b="1">
                          <a:solidFill>
                            <a:srgbClr val="7F93AB"/>
                          </a:solidFill>
                        </a:defRPr>
                      </a:pPr>
                      <a:r>
                        <a:t>4</a:t>
                      </a:r>
                    </a:p>
                  </a:txBody>
                  <a:tcPr>
                    <a:solidFill>
                      <a:srgbClr val="101B2C"/>
                    </a:solidFill>
                  </a:tcPr>
                </a:tc>
                <a:tc>
                  <a:txBody>
                    <a:bodyPr/>
                    <a:lstStyle/>
                    <a:p>
                      <a:pPr algn="ctr">
                        <a:defRPr sz="1200" b="1">
                          <a:solidFill>
                            <a:srgbClr val="7F93AB"/>
                          </a:solidFill>
                        </a:defRPr>
                      </a:pPr>
                      <a:r>
                        <a:t>5</a:t>
                      </a:r>
                    </a:p>
                  </a:txBody>
                  <a:tcPr>
                    <a:solidFill>
                      <a:srgbClr val="101B2C"/>
                    </a:solidFill>
                  </a:tcPr>
                </a:tc>
                <a:tc>
                  <a:txBody>
                    <a:bodyPr/>
                    <a:lstStyle/>
                    <a:p>
                      <a:pPr algn="ctr">
                        <a:defRPr sz="1200" b="1">
                          <a:solidFill>
                            <a:srgbClr val="7F93AB"/>
                          </a:solidFill>
                        </a:defRPr>
                      </a:pPr>
                      <a:r>
                        <a:t>6</a:t>
                      </a:r>
                    </a:p>
                  </a:txBody>
                  <a:tcPr>
                    <a:solidFill>
                      <a:srgbClr val="101B2C"/>
                    </a:solidFill>
                  </a:tcPr>
                </a:tc>
                <a:tc>
                  <a:txBody>
                    <a:bodyPr/>
                    <a:lstStyle/>
                    <a:p>
                      <a:pPr algn="ctr">
                        <a:defRPr sz="1200" b="1">
                          <a:solidFill>
                            <a:srgbClr val="7F93AB"/>
                          </a:solidFill>
                        </a:defRPr>
                      </a:pPr>
                      <a:r>
                        <a:t>7</a:t>
                      </a:r>
                    </a:p>
                  </a:txBody>
                  <a:tcPr>
                    <a:solidFill>
                      <a:srgbClr val="101B2C"/>
                    </a:solidFill>
                  </a:tcPr>
                </a:tc>
                <a:extLst>
                  <a:ext uri="{0D108BD9-81ED-4DB2-BD59-A6C34878D82A}">
                    <a16:rowId xmlns:a16="http://schemas.microsoft.com/office/drawing/2014/main" val="10000"/>
                  </a:ext>
                </a:extLst>
              </a:tr>
              <a:tr h="655320">
                <a:tc>
                  <a:txBody>
                    <a:bodyPr/>
                    <a:lstStyle/>
                    <a:p>
                      <a:pPr>
                        <a:defRPr sz="1000" b="1">
                          <a:solidFill>
                            <a:srgbClr val="E7EEF8"/>
                          </a:solidFill>
                        </a:defRPr>
                      </a:pPr>
                      <a:r>
                        <a:t>0 (base)</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0</a:t>
                      </a:r>
                    </a:p>
                  </a:txBody>
                  <a:tcPr>
                    <a:solidFill>
                      <a:srgbClr val="101B2C"/>
                    </a:solidFill>
                  </a:tcPr>
                </a:tc>
                <a:extLst>
                  <a:ext uri="{0D108BD9-81ED-4DB2-BD59-A6C34878D82A}">
                    <a16:rowId xmlns:a16="http://schemas.microsoft.com/office/drawing/2014/main" val="10001"/>
                  </a:ext>
                </a:extLst>
              </a:tr>
              <a:tr h="655320">
                <a:tc>
                  <a:txBody>
                    <a:bodyPr/>
                    <a:lstStyle/>
                    <a:p>
                      <a:pPr>
                        <a:defRPr sz="1000" b="1">
                          <a:solidFill>
                            <a:srgbClr val="E7EEF8"/>
                          </a:solidFill>
                        </a:defRPr>
                      </a:pPr>
                      <a:r>
                        <a:t>1 (Coin w1 v1)</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tc>
                  <a:txBody>
                    <a:bodyPr/>
                    <a:lstStyle/>
                    <a:p>
                      <a:pPr algn="ctr">
                        <a:defRPr sz="1300" b="1">
                          <a:solidFill>
                            <a:srgbClr val="E7EEF8"/>
                          </a:solidFill>
                        </a:defRPr>
                      </a:pPr>
                      <a:r>
                        <a:t>1</a:t>
                      </a:r>
                    </a:p>
                  </a:txBody>
                  <a:tcPr>
                    <a:solidFill>
                      <a:srgbClr val="2D2412"/>
                    </a:solidFill>
                  </a:tcPr>
                </a:tc>
                <a:extLst>
                  <a:ext uri="{0D108BD9-81ED-4DB2-BD59-A6C34878D82A}">
                    <a16:rowId xmlns:a16="http://schemas.microsoft.com/office/drawing/2014/main" val="10002"/>
                  </a:ext>
                </a:extLst>
              </a:tr>
              <a:tr h="655320">
                <a:tc>
                  <a:txBody>
                    <a:bodyPr/>
                    <a:lstStyle/>
                    <a:p>
                      <a:pPr>
                        <a:defRPr sz="1000" b="1">
                          <a:solidFill>
                            <a:srgbClr val="E7EEF8"/>
                          </a:solidFill>
                        </a:defRPr>
                      </a:pPr>
                      <a:r>
                        <a:t>2 (Manus w3 v4)</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4</a:t>
                      </a:r>
                    </a:p>
                  </a:txBody>
                  <a:tcPr>
                    <a:solidFill>
                      <a:srgbClr val="2D2412"/>
                    </a:solidFill>
                  </a:tcPr>
                </a:tc>
                <a:tc>
                  <a:txBody>
                    <a:bodyPr/>
                    <a:lstStyle/>
                    <a:p>
                      <a:pPr algn="ctr">
                        <a:defRPr sz="1300" b="1">
                          <a:solidFill>
                            <a:srgbClr val="E7EEF8"/>
                          </a:solidFill>
                        </a:defRPr>
                      </a:pPr>
                      <a:r>
                        <a:t>5</a:t>
                      </a:r>
                    </a:p>
                  </a:txBody>
                  <a:tcPr>
                    <a:solidFill>
                      <a:srgbClr val="2D2412"/>
                    </a:solidFill>
                  </a:tcPr>
                </a:tc>
                <a:tc>
                  <a:txBody>
                    <a:bodyPr/>
                    <a:lstStyle/>
                    <a:p>
                      <a:pPr algn="ctr">
                        <a:defRPr sz="1300" b="1">
                          <a:solidFill>
                            <a:srgbClr val="E7EEF8"/>
                          </a:solidFill>
                        </a:defRPr>
                      </a:pPr>
                      <a:r>
                        <a:t>5</a:t>
                      </a:r>
                    </a:p>
                  </a:txBody>
                  <a:tcPr>
                    <a:solidFill>
                      <a:srgbClr val="2D2412"/>
                    </a:solidFill>
                  </a:tcPr>
                </a:tc>
                <a:tc>
                  <a:txBody>
                    <a:bodyPr/>
                    <a:lstStyle/>
                    <a:p>
                      <a:pPr algn="ctr">
                        <a:defRPr sz="1300" b="1">
                          <a:solidFill>
                            <a:srgbClr val="E7EEF8"/>
                          </a:solidFill>
                        </a:defRPr>
                      </a:pPr>
                      <a:r>
                        <a:t>5</a:t>
                      </a:r>
                    </a:p>
                  </a:txBody>
                  <a:tcPr>
                    <a:solidFill>
                      <a:srgbClr val="2D2412"/>
                    </a:solidFill>
                  </a:tcPr>
                </a:tc>
                <a:tc>
                  <a:txBody>
                    <a:bodyPr/>
                    <a:lstStyle/>
                    <a:p>
                      <a:pPr algn="ctr">
                        <a:defRPr sz="1300" b="1">
                          <a:solidFill>
                            <a:srgbClr val="E7EEF8"/>
                          </a:solidFill>
                        </a:defRPr>
                      </a:pPr>
                      <a:r>
                        <a:t>5</a:t>
                      </a:r>
                    </a:p>
                  </a:txBody>
                  <a:tcPr>
                    <a:solidFill>
                      <a:srgbClr val="2D2412"/>
                    </a:solidFill>
                  </a:tcPr>
                </a:tc>
                <a:extLst>
                  <a:ext uri="{0D108BD9-81ED-4DB2-BD59-A6C34878D82A}">
                    <a16:rowId xmlns:a16="http://schemas.microsoft.com/office/drawing/2014/main" val="10003"/>
                  </a:ext>
                </a:extLst>
              </a:tr>
              <a:tr h="655320">
                <a:tc>
                  <a:txBody>
                    <a:bodyPr/>
                    <a:lstStyle/>
                    <a:p>
                      <a:pPr>
                        <a:defRPr sz="1000" b="1">
                          <a:solidFill>
                            <a:srgbClr val="E7EEF8"/>
                          </a:solidFill>
                        </a:defRPr>
                      </a:pPr>
                      <a:r>
                        <a:t>3 (Lens w4 v5)</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4</a:t>
                      </a:r>
                    </a:p>
                  </a:txBody>
                  <a:tcPr>
                    <a:solidFill>
                      <a:srgbClr val="101B2C"/>
                    </a:solidFill>
                  </a:tcPr>
                </a:tc>
                <a:tc>
                  <a:txBody>
                    <a:bodyPr/>
                    <a:lstStyle/>
                    <a:p>
                      <a:pPr algn="ctr">
                        <a:defRPr sz="1300" b="1">
                          <a:solidFill>
                            <a:srgbClr val="E7EEF8"/>
                          </a:solidFill>
                        </a:defRPr>
                      </a:pPr>
                      <a:r>
                        <a:t>5</a:t>
                      </a:r>
                    </a:p>
                  </a:txBody>
                  <a:tcPr>
                    <a:solidFill>
                      <a:srgbClr val="101B2C"/>
                    </a:solidFill>
                  </a:tcPr>
                </a:tc>
                <a:tc>
                  <a:txBody>
                    <a:bodyPr/>
                    <a:lstStyle/>
                    <a:p>
                      <a:pPr algn="ctr">
                        <a:defRPr sz="1300" b="1">
                          <a:solidFill>
                            <a:srgbClr val="E7EEF8"/>
                          </a:solidFill>
                        </a:defRPr>
                      </a:pPr>
                      <a:r>
                        <a:t>6</a:t>
                      </a:r>
                    </a:p>
                  </a:txBody>
                  <a:tcPr>
                    <a:solidFill>
                      <a:srgbClr val="2D2412"/>
                    </a:solidFill>
                  </a:tcPr>
                </a:tc>
                <a:tc>
                  <a:txBody>
                    <a:bodyPr/>
                    <a:lstStyle/>
                    <a:p>
                      <a:pPr algn="ctr">
                        <a:defRPr sz="1300" b="1">
                          <a:solidFill>
                            <a:srgbClr val="E7EEF8"/>
                          </a:solidFill>
                        </a:defRPr>
                      </a:pPr>
                      <a:r>
                        <a:t>6</a:t>
                      </a:r>
                    </a:p>
                  </a:txBody>
                  <a:tcPr>
                    <a:solidFill>
                      <a:srgbClr val="2D2412"/>
                    </a:solidFill>
                  </a:tcPr>
                </a:tc>
                <a:tc>
                  <a:txBody>
                    <a:bodyPr/>
                    <a:lstStyle/>
                    <a:p>
                      <a:pPr algn="ctr">
                        <a:defRPr sz="1300" b="1">
                          <a:solidFill>
                            <a:srgbClr val="E7EEF8"/>
                          </a:solidFill>
                        </a:defRPr>
                      </a:pPr>
                      <a:r>
                        <a:t>9</a:t>
                      </a:r>
                    </a:p>
                  </a:txBody>
                  <a:tcPr>
                    <a:solidFill>
                      <a:srgbClr val="2D2412"/>
                    </a:solidFill>
                  </a:tcPr>
                </a:tc>
                <a:extLst>
                  <a:ext uri="{0D108BD9-81ED-4DB2-BD59-A6C34878D82A}">
                    <a16:rowId xmlns:a16="http://schemas.microsoft.com/office/drawing/2014/main" val="10004"/>
                  </a:ext>
                </a:extLst>
              </a:tr>
              <a:tr h="655320">
                <a:tc>
                  <a:txBody>
                    <a:bodyPr/>
                    <a:lstStyle/>
                    <a:p>
                      <a:pPr>
                        <a:defRPr sz="1000" b="1">
                          <a:solidFill>
                            <a:srgbClr val="E7EEF8"/>
                          </a:solidFill>
                        </a:defRPr>
                      </a:pPr>
                      <a:r>
                        <a:t>4 (Astro w5 v7)</a:t>
                      </a:r>
                    </a:p>
                  </a:txBody>
                  <a:tcPr>
                    <a:solidFill>
                      <a:srgbClr val="101B2C"/>
                    </a:solidFill>
                  </a:tcPr>
                </a:tc>
                <a:tc>
                  <a:txBody>
                    <a:bodyPr/>
                    <a:lstStyle/>
                    <a:p>
                      <a:pPr algn="ctr">
                        <a:defRPr sz="1300" b="1">
                          <a:solidFill>
                            <a:srgbClr val="E7EEF8"/>
                          </a:solidFill>
                        </a:defRPr>
                      </a:pPr>
                      <a:r>
                        <a:t>0</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1</a:t>
                      </a:r>
                    </a:p>
                  </a:txBody>
                  <a:tcPr>
                    <a:solidFill>
                      <a:srgbClr val="101B2C"/>
                    </a:solidFill>
                  </a:tcPr>
                </a:tc>
                <a:tc>
                  <a:txBody>
                    <a:bodyPr/>
                    <a:lstStyle/>
                    <a:p>
                      <a:pPr algn="ctr">
                        <a:defRPr sz="1300" b="1">
                          <a:solidFill>
                            <a:srgbClr val="E7EEF8"/>
                          </a:solidFill>
                        </a:defRPr>
                      </a:pPr>
                      <a:r>
                        <a:t>4</a:t>
                      </a:r>
                    </a:p>
                  </a:txBody>
                  <a:tcPr>
                    <a:solidFill>
                      <a:srgbClr val="101B2C"/>
                    </a:solidFill>
                  </a:tcPr>
                </a:tc>
                <a:tc>
                  <a:txBody>
                    <a:bodyPr/>
                    <a:lstStyle/>
                    <a:p>
                      <a:pPr algn="ctr">
                        <a:defRPr sz="1300" b="1">
                          <a:solidFill>
                            <a:srgbClr val="E7EEF8"/>
                          </a:solidFill>
                        </a:defRPr>
                      </a:pPr>
                      <a:r>
                        <a:t>5</a:t>
                      </a:r>
                    </a:p>
                  </a:txBody>
                  <a:tcPr>
                    <a:solidFill>
                      <a:srgbClr val="101B2C"/>
                    </a:solidFill>
                  </a:tcPr>
                </a:tc>
                <a:tc>
                  <a:txBody>
                    <a:bodyPr/>
                    <a:lstStyle/>
                    <a:p>
                      <a:pPr algn="ctr">
                        <a:defRPr sz="1300" b="1">
                          <a:solidFill>
                            <a:srgbClr val="E7EEF8"/>
                          </a:solidFill>
                        </a:defRPr>
                      </a:pPr>
                      <a:r>
                        <a:t>7</a:t>
                      </a:r>
                    </a:p>
                  </a:txBody>
                  <a:tcPr>
                    <a:solidFill>
                      <a:srgbClr val="2D2412"/>
                    </a:solidFill>
                  </a:tcPr>
                </a:tc>
                <a:tc>
                  <a:txBody>
                    <a:bodyPr/>
                    <a:lstStyle/>
                    <a:p>
                      <a:pPr algn="ctr">
                        <a:defRPr sz="1300" b="1">
                          <a:solidFill>
                            <a:srgbClr val="E7EEF8"/>
                          </a:solidFill>
                        </a:defRPr>
                      </a:pPr>
                      <a:r>
                        <a:t>8</a:t>
                      </a:r>
                    </a:p>
                  </a:txBody>
                  <a:tcPr>
                    <a:solidFill>
                      <a:srgbClr val="2D2412"/>
                    </a:solidFill>
                  </a:tcPr>
                </a:tc>
                <a:tc>
                  <a:txBody>
                    <a:bodyPr/>
                    <a:lstStyle/>
                    <a:p>
                      <a:pPr algn="ctr">
                        <a:defRPr sz="1300" b="1">
                          <a:solidFill>
                            <a:srgbClr val="FFFFFF"/>
                          </a:solidFill>
                        </a:defRPr>
                      </a:pPr>
                      <a:r>
                        <a:t>9</a:t>
                      </a:r>
                    </a:p>
                  </a:txBody>
                  <a:tcPr>
                    <a:solidFill>
                      <a:srgbClr val="3D7EE8"/>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7132320" y="1920240"/>
            <a:ext cx="4327855" cy="438912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057400"/>
            <a:ext cx="3840480" cy="4114800"/>
          </a:xfrm>
          <a:prstGeom prst="rect">
            <a:avLst/>
          </a:prstGeom>
          <a:noFill/>
        </p:spPr>
        <p:txBody>
          <a:bodyPr wrap="square">
            <a:spAutoFit/>
          </a:bodyPr>
          <a:lstStyle/>
          <a:p>
            <a:pPr>
              <a:defRPr sz="1100" b="1">
                <a:solidFill>
                  <a:srgbClr val="3D7EE8"/>
                </a:solidFill>
              </a:defRPr>
            </a:pPr>
            <a:r>
              <a:t>CORNER CELL ANALYSIS: dp[4][7]</a:t>
            </a:r>
          </a:p>
          <a:p>
            <a:pPr>
              <a:spcBef>
                <a:spcPts val="800"/>
              </a:spcBef>
            </a:pPr>
            <a:r>
              <a:rPr sz="1800">
                <a:solidFill>
                  <a:srgbClr val="E7EEF8"/>
                </a:solidFill>
              </a:rPr>
              <a:t>dp[4][7] = </a:t>
            </a:r>
            <a:r>
              <a:rPr sz="2800" b="1">
                <a:solidFill>
                  <a:srgbClr val="3D7EE8"/>
                </a:solidFill>
              </a:rPr>
              <a:t>9</a:t>
            </a:r>
            <a:r>
              <a:rPr sz="1200">
                <a:solidFill>
                  <a:srgbClr val="10B981"/>
                </a:solidFill>
              </a:rPr>
              <a:t>  (Optimal Value)</a:t>
            </a:r>
          </a:p>
          <a:p>
            <a:pPr>
              <a:spcBef>
                <a:spcPts val="1000"/>
              </a:spcBef>
              <a:defRPr sz="1200">
                <a:solidFill>
                  <a:srgbClr val="E7EEF8"/>
                </a:solidFill>
              </a:defRPr>
            </a:pPr>
            <a:r>
              <a:t>1. Skip Astrolabe:</a:t>
            </a:r>
            <a:br/>
            <a:r>
              <a:t>   dp[3][7] = 9</a:t>
            </a:r>
            <a:br/>
            <a:br/>
            <a:r>
              <a:t>2. Take Astrolabe:</a:t>
            </a:r>
            <a:br/>
            <a:r>
              <a:t>   val[4] + dp[3][7 − wt[4]]</a:t>
            </a:r>
            <a:br/>
            <a:r>
              <a:t>   = 7 + dp[3][7 − 5]</a:t>
            </a:r>
            <a:br/>
            <a:r>
              <a:t>   = 7 + dp[3][2] = 7 + 1 = 8</a:t>
            </a:r>
            <a:br/>
            <a:br/>
            <a:r>
              <a:t>3. Bellman Choice:</a:t>
            </a:r>
            <a:br/>
            <a:r>
              <a:t>   max(skip, take) = max(9, 8) = 9</a:t>
            </a:r>
          </a:p>
          <a:p>
            <a:pPr>
              <a:spcBef>
                <a:spcPts val="1200"/>
              </a:spcBef>
              <a:defRPr sz="1100">
                <a:solidFill>
                  <a:srgbClr val="9AAFC6"/>
                </a:solidFill>
              </a:defRPr>
            </a:pPr>
            <a:r>
              <a:t>Gold cells: Taking the row's item strictly improved the cell over skipping.</a:t>
            </a:r>
            <a:br/>
            <a:r>
              <a:t>Blue cell: dp[4][7] = 9 is the final optimal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10728655" cy="45720"/>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60"/>
            <a:ext cx="6619240" cy="45720"/>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07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07 — RECOVERING THE ITEMS</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Walk back from dp[4][7]</a:t>
            </a:r>
          </a:p>
        </p:txBody>
      </p:sp>
      <p:sp>
        <p:nvSpPr>
          <p:cNvPr id="7" name="TextBox 6"/>
          <p:cNvSpPr txBox="1"/>
          <p:nvPr/>
        </p:nvSpPr>
        <p:spPr>
          <a:xfrm>
            <a:off x="731520" y="1874519"/>
            <a:ext cx="10728655" cy="411480"/>
          </a:xfrm>
          <a:prstGeom prst="rect">
            <a:avLst/>
          </a:prstGeom>
          <a:noFill/>
        </p:spPr>
        <p:txBody>
          <a:bodyPr wrap="square">
            <a:spAutoFit/>
          </a:bodyPr>
          <a:lstStyle/>
          <a:p>
            <a:pPr>
              <a:defRPr sz="1200">
                <a:solidFill>
                  <a:srgbClr val="9AAFC6"/>
                </a:solidFill>
              </a:defRPr>
            </a:pPr>
            <a:r>
              <a:t>Start at the corner answer cell dp[4][7]. If dp[i][w] == dp[i−1][w], item i was skipped. If strictly larger, item i was taken: add i to subset S, deduct its weight w ← w − wt[i], and repeat until i = 0.</a:t>
            </a:r>
          </a:p>
        </p:txBody>
      </p:sp>
      <p:sp>
        <p:nvSpPr>
          <p:cNvPr id="8" name="Rounded Rectangle 7"/>
          <p:cNvSpPr/>
          <p:nvPr/>
        </p:nvSpPr>
        <p:spPr>
          <a:xfrm>
            <a:off x="731520" y="2423160"/>
            <a:ext cx="10728655" cy="749808"/>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514600"/>
            <a:ext cx="10332720" cy="594360"/>
          </a:xfrm>
          <a:prstGeom prst="rect">
            <a:avLst/>
          </a:prstGeom>
          <a:noFill/>
        </p:spPr>
        <p:txBody>
          <a:bodyPr wrap="square">
            <a:spAutoFit/>
          </a:bodyPr>
          <a:lstStyle/>
          <a:p>
            <a:r>
              <a:rPr sz="1300" b="1">
                <a:solidFill>
                  <a:srgbClr val="E7EEF8"/>
                </a:solidFill>
              </a:rPr>
              <a:t>Step 1: Astrolabe    </a:t>
            </a:r>
            <a:r>
              <a:rPr sz="1100">
                <a:solidFill>
                  <a:srgbClr val="9AAFC6"/>
                </a:solidFill>
              </a:rPr>
              <a:t>dp[4][7] = 9 vs dp[3][7] = 9   |   9 == 9  ➔  Values match: item was NOT required.    </a:t>
            </a:r>
            <a:r>
              <a:rPr sz="1200" b="1">
                <a:solidFill>
                  <a:srgbClr val="7F93AB"/>
                </a:solidFill>
              </a:rPr>
              <a:t>[SKIP]</a:t>
            </a:r>
          </a:p>
        </p:txBody>
      </p:sp>
      <p:sp>
        <p:nvSpPr>
          <p:cNvPr id="10" name="Rounded Rectangle 9"/>
          <p:cNvSpPr/>
          <p:nvPr/>
        </p:nvSpPr>
        <p:spPr>
          <a:xfrm>
            <a:off x="731520" y="3291839"/>
            <a:ext cx="10728655" cy="749808"/>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383279"/>
            <a:ext cx="10332720" cy="594360"/>
          </a:xfrm>
          <a:prstGeom prst="rect">
            <a:avLst/>
          </a:prstGeom>
          <a:noFill/>
        </p:spPr>
        <p:txBody>
          <a:bodyPr wrap="square">
            <a:spAutoFit/>
          </a:bodyPr>
          <a:lstStyle/>
          <a:p>
            <a:r>
              <a:rPr sz="1300" b="1">
                <a:solidFill>
                  <a:srgbClr val="E7EEF8"/>
                </a:solidFill>
              </a:rPr>
              <a:t>Step 2: Lens    </a:t>
            </a:r>
            <a:r>
              <a:rPr sz="1100">
                <a:solidFill>
                  <a:srgbClr val="9AAFC6"/>
                </a:solidFill>
              </a:rPr>
              <a:t>dp[3][7] = 9 vs dp[2][7] = 5   |   9 &gt; 5  ➔  Strictly larger: Lens was taken! Capacity falls: 7 − 4 = 3.    </a:t>
            </a:r>
            <a:r>
              <a:rPr sz="1200" b="1">
                <a:solidFill>
                  <a:srgbClr val="3D7EE8"/>
                </a:solidFill>
              </a:rPr>
              <a:t>[TAKE (Lens)]</a:t>
            </a:r>
          </a:p>
        </p:txBody>
      </p:sp>
      <p:sp>
        <p:nvSpPr>
          <p:cNvPr id="12" name="Rounded Rectangle 11"/>
          <p:cNvSpPr/>
          <p:nvPr/>
        </p:nvSpPr>
        <p:spPr>
          <a:xfrm>
            <a:off x="731520" y="4160520"/>
            <a:ext cx="10728655" cy="749808"/>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251960"/>
            <a:ext cx="10332720" cy="594360"/>
          </a:xfrm>
          <a:prstGeom prst="rect">
            <a:avLst/>
          </a:prstGeom>
          <a:noFill/>
        </p:spPr>
        <p:txBody>
          <a:bodyPr wrap="square">
            <a:spAutoFit/>
          </a:bodyPr>
          <a:lstStyle/>
          <a:p>
            <a:r>
              <a:rPr sz="1300" b="1">
                <a:solidFill>
                  <a:srgbClr val="E7EEF8"/>
                </a:solidFill>
              </a:rPr>
              <a:t>Step 3: Manuscript    </a:t>
            </a:r>
            <a:r>
              <a:rPr sz="1100">
                <a:solidFill>
                  <a:srgbClr val="9AAFC6"/>
                </a:solidFill>
              </a:rPr>
              <a:t>dp[2][3] = 4 vs dp[1][3] = 1   |   4 &gt; 1  ➔  Strictly larger: Manuscript was taken! Capacity falls: 3 − 3 = 0.    </a:t>
            </a:r>
            <a:r>
              <a:rPr sz="1200" b="1">
                <a:solidFill>
                  <a:srgbClr val="3D7EE8"/>
                </a:solidFill>
              </a:rPr>
              <a:t>[TAKE (Manuscript)]</a:t>
            </a:r>
          </a:p>
        </p:txBody>
      </p:sp>
      <p:sp>
        <p:nvSpPr>
          <p:cNvPr id="14" name="Rounded Rectangle 13"/>
          <p:cNvSpPr/>
          <p:nvPr/>
        </p:nvSpPr>
        <p:spPr>
          <a:xfrm>
            <a:off x="731520" y="5029200"/>
            <a:ext cx="10728655" cy="749808"/>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120640"/>
            <a:ext cx="10332720" cy="594360"/>
          </a:xfrm>
          <a:prstGeom prst="rect">
            <a:avLst/>
          </a:prstGeom>
          <a:noFill/>
        </p:spPr>
        <p:txBody>
          <a:bodyPr wrap="square">
            <a:spAutoFit/>
          </a:bodyPr>
          <a:lstStyle/>
          <a:p>
            <a:r>
              <a:rPr sz="1300" b="1">
                <a:solidFill>
                  <a:srgbClr val="E7EEF8"/>
                </a:solidFill>
              </a:rPr>
              <a:t>Step 4: Coin    </a:t>
            </a:r>
            <a:r>
              <a:rPr sz="1100">
                <a:solidFill>
                  <a:srgbClr val="9AAFC6"/>
                </a:solidFill>
              </a:rPr>
              <a:t>dp[1][0] = 0 vs dp[0][0] = 0   |   0 == 0  ➔  Values match: Coin was not taken. Capacity remains 0.    </a:t>
            </a:r>
            <a:r>
              <a:rPr sz="1200" b="1">
                <a:solidFill>
                  <a:srgbClr val="7F93AB"/>
                </a:solidFill>
              </a:rPr>
              <a:t>[SKIP]</a:t>
            </a:r>
          </a:p>
        </p:txBody>
      </p:sp>
      <p:sp>
        <p:nvSpPr>
          <p:cNvPr id="16" name="Rounded Rectangle 15"/>
          <p:cNvSpPr/>
          <p:nvPr/>
        </p:nvSpPr>
        <p:spPr>
          <a:xfrm>
            <a:off x="731520" y="5989320"/>
            <a:ext cx="10728655" cy="548640"/>
          </a:xfrm>
          <a:prstGeom prst="roundRect">
            <a:avLst/>
          </a:prstGeom>
          <a:solidFill>
            <a:srgbClr val="17263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6035040"/>
            <a:ext cx="10332720" cy="457200"/>
          </a:xfrm>
          <a:prstGeom prst="rect">
            <a:avLst/>
          </a:prstGeom>
          <a:noFill/>
        </p:spPr>
        <p:txBody>
          <a:bodyPr wrap="square">
            <a:spAutoFit/>
          </a:bodyPr>
          <a:lstStyle/>
          <a:p>
            <a:pPr>
              <a:defRPr sz="1300" b="1">
                <a:solidFill>
                  <a:srgbClr val="10B981"/>
                </a:solidFill>
              </a:defRPr>
            </a:pPr>
            <a:r>
              <a:t>Optimal Subset Recovered: { Manuscript, Lens }   •   Total Weight = 3 + 4 = 7 kg   •   Total Optimal Value = 4 + 5 = 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59"/>
            <a:ext cx="10795000" cy="45719"/>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59"/>
            <a:ext cx="7924800" cy="45719"/>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08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08 — PSEUDOCODE</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Bottom-up fill, then an optional walk</a:t>
            </a:r>
          </a:p>
        </p:txBody>
      </p:sp>
      <p:sp>
        <p:nvSpPr>
          <p:cNvPr id="7" name="Rounded Rectangle 6"/>
          <p:cNvSpPr/>
          <p:nvPr/>
        </p:nvSpPr>
        <p:spPr>
          <a:xfrm>
            <a:off x="731520" y="1920240"/>
            <a:ext cx="5212080" cy="4389120"/>
          </a:xfrm>
          <a:prstGeom prst="roundRect">
            <a:avLst/>
          </a:prstGeom>
          <a:solidFill>
            <a:srgbClr val="0A1420"/>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057400"/>
            <a:ext cx="4754880" cy="4114800"/>
          </a:xfrm>
          <a:prstGeom prst="rect">
            <a:avLst/>
          </a:prstGeom>
          <a:noFill/>
        </p:spPr>
        <p:txBody>
          <a:bodyPr wrap="square">
            <a:spAutoFit/>
          </a:bodyPr>
          <a:lstStyle/>
          <a:p>
            <a:pPr>
              <a:defRPr sz="1400" b="1">
                <a:solidFill>
                  <a:srgbClr val="E7EEF8"/>
                </a:solidFill>
                <a:latin typeface="Georgia"/>
              </a:defRPr>
            </a:pPr>
            <a:r>
              <a:t>Knapsack(val[1..n], wt[1..n], W)</a:t>
            </a:r>
          </a:p>
          <a:p>
            <a:pPr>
              <a:spcBef>
                <a:spcPts val="400"/>
              </a:spcBef>
            </a:pPr>
            <a:r>
              <a:rPr sz="1100">
                <a:solidFill>
                  <a:srgbClr val="7F93AB"/>
                </a:solidFill>
                <a:latin typeface="Consolas"/>
              </a:rPr>
              <a:t>01  </a:t>
            </a:r>
            <a:r>
              <a:rPr sz="1100">
                <a:solidFill>
                  <a:srgbClr val="E7EEF8"/>
                </a:solidFill>
                <a:latin typeface="Consolas"/>
              </a:rPr>
              <a:t>let dp[0..n][0..W] ← 0</a:t>
            </a:r>
          </a:p>
          <a:p>
            <a:pPr>
              <a:spcBef>
                <a:spcPts val="400"/>
              </a:spcBef>
            </a:pPr>
            <a:r>
              <a:rPr sz="1100">
                <a:solidFill>
                  <a:srgbClr val="7F93AB"/>
                </a:solidFill>
                <a:latin typeface="Consolas"/>
              </a:rPr>
              <a:t>02  </a:t>
            </a:r>
            <a:r>
              <a:rPr sz="1100">
                <a:solidFill>
                  <a:srgbClr val="E7EEF8"/>
                </a:solidFill>
                <a:latin typeface="Consolas"/>
              </a:rPr>
              <a:t>for i ← 1 to n do</a:t>
            </a:r>
          </a:p>
          <a:p>
            <a:pPr>
              <a:spcBef>
                <a:spcPts val="400"/>
              </a:spcBef>
            </a:pPr>
            <a:r>
              <a:rPr sz="1100">
                <a:solidFill>
                  <a:srgbClr val="7F93AB"/>
                </a:solidFill>
                <a:latin typeface="Consolas"/>
              </a:rPr>
              <a:t>03  </a:t>
            </a:r>
            <a:r>
              <a:rPr sz="1100">
                <a:solidFill>
                  <a:srgbClr val="E7EEF8"/>
                </a:solidFill>
                <a:latin typeface="Consolas"/>
              </a:rPr>
              <a:t>    for w ← 0 to W do</a:t>
            </a:r>
          </a:p>
          <a:p>
            <a:pPr>
              <a:spcBef>
                <a:spcPts val="400"/>
              </a:spcBef>
            </a:pPr>
            <a:r>
              <a:rPr sz="1100">
                <a:solidFill>
                  <a:srgbClr val="7F93AB"/>
                </a:solidFill>
                <a:latin typeface="Consolas"/>
              </a:rPr>
              <a:t>04  </a:t>
            </a:r>
            <a:r>
              <a:rPr sz="1100">
                <a:solidFill>
                  <a:srgbClr val="E7EEF8"/>
                </a:solidFill>
                <a:latin typeface="Consolas"/>
              </a:rPr>
              <a:t>        if wt[i] &gt; w then</a:t>
            </a:r>
          </a:p>
          <a:p>
            <a:pPr>
              <a:spcBef>
                <a:spcPts val="400"/>
              </a:spcBef>
            </a:pPr>
            <a:r>
              <a:rPr sz="1100">
                <a:solidFill>
                  <a:srgbClr val="7F93AB"/>
                </a:solidFill>
                <a:latin typeface="Consolas"/>
              </a:rPr>
              <a:t>05  </a:t>
            </a:r>
            <a:r>
              <a:rPr sz="1100">
                <a:solidFill>
                  <a:srgbClr val="E7EEF8"/>
                </a:solidFill>
                <a:latin typeface="Consolas"/>
              </a:rPr>
              <a:t>            dp[i][w] ← dp[i−1][w]</a:t>
            </a:r>
          </a:p>
          <a:p>
            <a:pPr>
              <a:spcBef>
                <a:spcPts val="400"/>
              </a:spcBef>
            </a:pPr>
            <a:r>
              <a:rPr sz="1100">
                <a:solidFill>
                  <a:srgbClr val="7F93AB"/>
                </a:solidFill>
                <a:latin typeface="Consolas"/>
              </a:rPr>
              <a:t>06  </a:t>
            </a:r>
            <a:r>
              <a:rPr sz="1100">
                <a:solidFill>
                  <a:srgbClr val="E7EEF8"/>
                </a:solidFill>
                <a:latin typeface="Consolas"/>
              </a:rPr>
              <a:t>        else</a:t>
            </a:r>
          </a:p>
          <a:p>
            <a:pPr>
              <a:spcBef>
                <a:spcPts val="400"/>
              </a:spcBef>
            </a:pPr>
            <a:r>
              <a:rPr sz="1100">
                <a:solidFill>
                  <a:srgbClr val="7F93AB"/>
                </a:solidFill>
                <a:latin typeface="Consolas"/>
              </a:rPr>
              <a:t>07  </a:t>
            </a:r>
            <a:r>
              <a:rPr sz="1100">
                <a:solidFill>
                  <a:srgbClr val="E7EEF8"/>
                </a:solidFill>
                <a:latin typeface="Consolas"/>
              </a:rPr>
              <a:t>            skip ← dp[i−1][w]</a:t>
            </a:r>
          </a:p>
          <a:p>
            <a:pPr>
              <a:spcBef>
                <a:spcPts val="400"/>
              </a:spcBef>
            </a:pPr>
            <a:r>
              <a:rPr sz="1100">
                <a:solidFill>
                  <a:srgbClr val="7F93AB"/>
                </a:solidFill>
                <a:latin typeface="Consolas"/>
              </a:rPr>
              <a:t>08  </a:t>
            </a:r>
            <a:r>
              <a:rPr sz="1100">
                <a:solidFill>
                  <a:srgbClr val="E7EEF8"/>
                </a:solidFill>
                <a:latin typeface="Consolas"/>
              </a:rPr>
              <a:t>            take ← val[i] + dp[i−1][w − wt[i]]</a:t>
            </a:r>
          </a:p>
          <a:p>
            <a:pPr>
              <a:spcBef>
                <a:spcPts val="400"/>
              </a:spcBef>
            </a:pPr>
            <a:r>
              <a:rPr sz="1100">
                <a:solidFill>
                  <a:srgbClr val="7F93AB"/>
                </a:solidFill>
                <a:latin typeface="Consolas"/>
              </a:rPr>
              <a:t>09  </a:t>
            </a:r>
            <a:r>
              <a:rPr sz="1100">
                <a:solidFill>
                  <a:srgbClr val="E7EEF8"/>
                </a:solidFill>
                <a:latin typeface="Consolas"/>
              </a:rPr>
              <a:t>            dp[i][w] ← max(skip, take)</a:t>
            </a:r>
          </a:p>
          <a:p>
            <a:pPr>
              <a:spcBef>
                <a:spcPts val="400"/>
              </a:spcBef>
            </a:pPr>
            <a:r>
              <a:rPr sz="1100">
                <a:solidFill>
                  <a:srgbClr val="7F93AB"/>
                </a:solidFill>
                <a:latin typeface="Consolas"/>
              </a:rPr>
              <a:t>10  </a:t>
            </a:r>
            <a:r>
              <a:rPr sz="1100">
                <a:solidFill>
                  <a:srgbClr val="E7EEF8"/>
                </a:solidFill>
                <a:latin typeface="Consolas"/>
              </a:rPr>
              <a:t>return dp[n][W]</a:t>
            </a:r>
          </a:p>
        </p:txBody>
      </p:sp>
      <p:sp>
        <p:nvSpPr>
          <p:cNvPr id="9" name="Rounded Rectangle 8"/>
          <p:cNvSpPr/>
          <p:nvPr/>
        </p:nvSpPr>
        <p:spPr>
          <a:xfrm>
            <a:off x="6248095" y="1920240"/>
            <a:ext cx="5212080" cy="4389120"/>
          </a:xfrm>
          <a:prstGeom prst="roundRect">
            <a:avLst/>
          </a:prstGeom>
          <a:solidFill>
            <a:srgbClr val="0A1420"/>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6695" y="2057400"/>
            <a:ext cx="4754880" cy="4114800"/>
          </a:xfrm>
          <a:prstGeom prst="rect">
            <a:avLst/>
          </a:prstGeom>
          <a:noFill/>
        </p:spPr>
        <p:txBody>
          <a:bodyPr wrap="square">
            <a:spAutoFit/>
          </a:bodyPr>
          <a:lstStyle/>
          <a:p>
            <a:pPr>
              <a:defRPr sz="1400" b="1">
                <a:solidFill>
                  <a:srgbClr val="E7EEF8"/>
                </a:solidFill>
                <a:latin typeface="Georgia"/>
              </a:defRPr>
            </a:pPr>
            <a:r>
              <a:t>Recover(dp, wt, n, W)</a:t>
            </a:r>
          </a:p>
          <a:p>
            <a:pPr>
              <a:spcBef>
                <a:spcPts val="400"/>
              </a:spcBef>
            </a:pPr>
            <a:r>
              <a:rPr sz="1100">
                <a:solidFill>
                  <a:srgbClr val="7F93AB"/>
                </a:solidFill>
                <a:latin typeface="Consolas"/>
              </a:rPr>
              <a:t>01  </a:t>
            </a:r>
            <a:r>
              <a:rPr sz="1100">
                <a:solidFill>
                  <a:srgbClr val="E7EEF8"/>
                </a:solidFill>
                <a:latin typeface="Consolas"/>
              </a:rPr>
              <a:t>i ← n;  w ← W;  S ← ∅</a:t>
            </a:r>
          </a:p>
          <a:p>
            <a:pPr>
              <a:spcBef>
                <a:spcPts val="400"/>
              </a:spcBef>
            </a:pPr>
            <a:r>
              <a:rPr sz="1100">
                <a:solidFill>
                  <a:srgbClr val="7F93AB"/>
                </a:solidFill>
                <a:latin typeface="Consolas"/>
              </a:rPr>
              <a:t>02  </a:t>
            </a:r>
            <a:r>
              <a:rPr sz="1100">
                <a:solidFill>
                  <a:srgbClr val="E7EEF8"/>
                </a:solidFill>
                <a:latin typeface="Consolas"/>
              </a:rPr>
              <a:t>while i &gt; 0 do</a:t>
            </a:r>
          </a:p>
          <a:p>
            <a:pPr>
              <a:spcBef>
                <a:spcPts val="400"/>
              </a:spcBef>
            </a:pPr>
            <a:r>
              <a:rPr sz="1100">
                <a:solidFill>
                  <a:srgbClr val="7F93AB"/>
                </a:solidFill>
                <a:latin typeface="Consolas"/>
              </a:rPr>
              <a:t>03  </a:t>
            </a:r>
            <a:r>
              <a:rPr sz="1100">
                <a:solidFill>
                  <a:srgbClr val="E7EEF8"/>
                </a:solidFill>
                <a:latin typeface="Consolas"/>
              </a:rPr>
              <a:t>    if dp[i][w] == dp[i−1][w] then</a:t>
            </a:r>
          </a:p>
          <a:p>
            <a:pPr>
              <a:spcBef>
                <a:spcPts val="400"/>
              </a:spcBef>
            </a:pPr>
            <a:r>
              <a:rPr sz="1100">
                <a:solidFill>
                  <a:srgbClr val="7F93AB"/>
                </a:solidFill>
                <a:latin typeface="Consolas"/>
              </a:rPr>
              <a:t>04  </a:t>
            </a:r>
            <a:r>
              <a:rPr sz="1100">
                <a:solidFill>
                  <a:srgbClr val="E7EEF8"/>
                </a:solidFill>
                <a:latin typeface="Consolas"/>
              </a:rPr>
              <a:t>        i ← i − 1          ▷ item i skipped</a:t>
            </a:r>
          </a:p>
          <a:p>
            <a:pPr>
              <a:spcBef>
                <a:spcPts val="400"/>
              </a:spcBef>
            </a:pPr>
            <a:r>
              <a:rPr sz="1100">
                <a:solidFill>
                  <a:srgbClr val="7F93AB"/>
                </a:solidFill>
                <a:latin typeface="Consolas"/>
              </a:rPr>
              <a:t>05  </a:t>
            </a:r>
            <a:r>
              <a:rPr sz="1100">
                <a:solidFill>
                  <a:srgbClr val="E7EEF8"/>
                </a:solidFill>
                <a:latin typeface="Consolas"/>
              </a:rPr>
              <a:t>    else</a:t>
            </a:r>
          </a:p>
          <a:p>
            <a:pPr>
              <a:spcBef>
                <a:spcPts val="400"/>
              </a:spcBef>
            </a:pPr>
            <a:r>
              <a:rPr sz="1100">
                <a:solidFill>
                  <a:srgbClr val="7F93AB"/>
                </a:solidFill>
                <a:latin typeface="Consolas"/>
              </a:rPr>
              <a:t>06  </a:t>
            </a:r>
            <a:r>
              <a:rPr sz="1100">
                <a:solidFill>
                  <a:srgbClr val="E7EEF8"/>
                </a:solidFill>
                <a:latin typeface="Consolas"/>
              </a:rPr>
              <a:t>        S ← S ∪ { i }     ▷ item i taken</a:t>
            </a:r>
          </a:p>
          <a:p>
            <a:pPr>
              <a:spcBef>
                <a:spcPts val="400"/>
              </a:spcBef>
            </a:pPr>
            <a:r>
              <a:rPr sz="1100">
                <a:solidFill>
                  <a:srgbClr val="7F93AB"/>
                </a:solidFill>
                <a:latin typeface="Consolas"/>
              </a:rPr>
              <a:t>07  </a:t>
            </a:r>
            <a:r>
              <a:rPr sz="1100">
                <a:solidFill>
                  <a:srgbClr val="E7EEF8"/>
                </a:solidFill>
                <a:latin typeface="Consolas"/>
              </a:rPr>
              <a:t>        w ← w − wt[i]</a:t>
            </a:r>
          </a:p>
          <a:p>
            <a:pPr>
              <a:spcBef>
                <a:spcPts val="400"/>
              </a:spcBef>
            </a:pPr>
            <a:r>
              <a:rPr sz="1100">
                <a:solidFill>
                  <a:srgbClr val="7F93AB"/>
                </a:solidFill>
                <a:latin typeface="Consolas"/>
              </a:rPr>
              <a:t>08  </a:t>
            </a:r>
            <a:r>
              <a:rPr sz="1100">
                <a:solidFill>
                  <a:srgbClr val="E7EEF8"/>
                </a:solidFill>
                <a:latin typeface="Consolas"/>
              </a:rPr>
              <a:t>        i ← i − 1</a:t>
            </a:r>
          </a:p>
          <a:p>
            <a:pPr>
              <a:spcBef>
                <a:spcPts val="400"/>
              </a:spcBef>
            </a:pPr>
            <a:r>
              <a:rPr sz="1100">
                <a:solidFill>
                  <a:srgbClr val="7F93AB"/>
                </a:solidFill>
                <a:latin typeface="Consolas"/>
              </a:rPr>
              <a:t>09  </a:t>
            </a:r>
            <a:r>
              <a:rPr sz="1100">
                <a:solidFill>
                  <a:srgbClr val="E7EEF8"/>
                </a:solidFill>
                <a:latin typeface="Consolas"/>
              </a:rPr>
              <a:t>return S</a:t>
            </a:r>
          </a:p>
          <a:p>
            <a:pPr>
              <a:spcBef>
                <a:spcPts val="400"/>
              </a:spcBef>
            </a:pPr>
            <a:endParaRPr sz="1100">
              <a:solidFill>
                <a:srgbClr val="E7EEF8"/>
              </a:solidFill>
              <a:latin typeface="Consolas"/>
            </a:endParaRPr>
          </a:p>
          <a:p>
            <a:pPr>
              <a:spcBef>
                <a:spcPts val="400"/>
              </a:spcBef>
            </a:pPr>
            <a:r>
              <a:rPr sz="1100">
                <a:solidFill>
                  <a:srgbClr val="7F93AB"/>
                </a:solidFill>
                <a:latin typeface="Consolas"/>
              </a:rPr>
              <a:t>Note  </a:t>
            </a:r>
            <a:r>
              <a:rPr sz="1100">
                <a:solidFill>
                  <a:srgbClr val="D4A24C"/>
                </a:solidFill>
                <a:latin typeface="Consolas"/>
              </a:rPr>
              <a:t>Equality prefers skip. That is safe: both</a:t>
            </a:r>
          </a:p>
          <a:p>
            <a:pPr>
              <a:spcBef>
                <a:spcPts val="400"/>
              </a:spcBef>
            </a:pPr>
            <a:r>
              <a:rPr sz="1100">
                <a:solidFill>
                  <a:srgbClr val="D4A24C"/>
                </a:solidFill>
                <a:latin typeface="Consolas"/>
              </a:rPr>
              <a:t>choices are optimal when values tie. Returns {2,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1" y="365759"/>
            <a:ext cx="10725912" cy="45719"/>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59"/>
            <a:ext cx="8681720" cy="45719"/>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09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09 — TIME AND SPACE</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A full table, or a single rolling row</a:t>
            </a:r>
          </a:p>
        </p:txBody>
      </p:sp>
      <p:sp>
        <p:nvSpPr>
          <p:cNvPr id="7" name="Rounded Rectangle 6"/>
          <p:cNvSpPr/>
          <p:nvPr/>
        </p:nvSpPr>
        <p:spPr>
          <a:xfrm>
            <a:off x="731520" y="192024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057400"/>
            <a:ext cx="2971800" cy="1463040"/>
          </a:xfrm>
          <a:prstGeom prst="rect">
            <a:avLst/>
          </a:prstGeom>
          <a:noFill/>
        </p:spPr>
        <p:txBody>
          <a:bodyPr wrap="square">
            <a:spAutoFit/>
          </a:bodyPr>
          <a:lstStyle/>
          <a:p>
            <a:pPr>
              <a:defRPr sz="1000" b="1">
                <a:solidFill>
                  <a:srgbClr val="7F93AB"/>
                </a:solidFill>
              </a:defRPr>
            </a:pPr>
            <a:r>
              <a:t>TIME COMPLEXITY</a:t>
            </a:r>
          </a:p>
          <a:p>
            <a:pPr>
              <a:spcBef>
                <a:spcPts val="400"/>
              </a:spcBef>
              <a:defRPr sz="2400" b="1">
                <a:solidFill>
                  <a:srgbClr val="3D7EE8"/>
                </a:solidFill>
                <a:latin typeface="Georgia"/>
              </a:defRPr>
            </a:pPr>
            <a:r>
              <a:t>O(n × W)</a:t>
            </a:r>
          </a:p>
          <a:p>
            <a:pPr>
              <a:spcBef>
                <a:spcPts val="400"/>
              </a:spcBef>
              <a:defRPr sz="1100">
                <a:solidFill>
                  <a:srgbClr val="9AAFC6"/>
                </a:solidFill>
              </a:defRPr>
            </a:pPr>
            <a:r>
              <a:t>n rows and W + 1 columns. Each cell evaluates max(skip, take) in O(1) time.</a:t>
            </a:r>
          </a:p>
        </p:txBody>
      </p:sp>
      <p:sp>
        <p:nvSpPr>
          <p:cNvPr id="9" name="Rounded Rectangle 8"/>
          <p:cNvSpPr/>
          <p:nvPr/>
        </p:nvSpPr>
        <p:spPr>
          <a:xfrm>
            <a:off x="4379976" y="192024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2057400"/>
            <a:ext cx="2971800" cy="1463040"/>
          </a:xfrm>
          <a:prstGeom prst="rect">
            <a:avLst/>
          </a:prstGeom>
          <a:noFill/>
        </p:spPr>
        <p:txBody>
          <a:bodyPr wrap="square">
            <a:spAutoFit/>
          </a:bodyPr>
          <a:lstStyle/>
          <a:p>
            <a:pPr>
              <a:defRPr sz="1000" b="1">
                <a:solidFill>
                  <a:srgbClr val="7F93AB"/>
                </a:solidFill>
              </a:defRPr>
            </a:pPr>
            <a:r>
              <a:t>SPACE (FULL TABLE)</a:t>
            </a:r>
          </a:p>
          <a:p>
            <a:pPr>
              <a:spcBef>
                <a:spcPts val="400"/>
              </a:spcBef>
              <a:defRPr sz="2400" b="1">
                <a:solidFill>
                  <a:srgbClr val="3D7EE8"/>
                </a:solidFill>
                <a:latin typeface="Georgia"/>
              </a:defRPr>
            </a:pPr>
            <a:r>
              <a:t>O(n × W)</a:t>
            </a:r>
          </a:p>
          <a:p>
            <a:pPr>
              <a:spcBef>
                <a:spcPts val="400"/>
              </a:spcBef>
              <a:defRPr sz="1100">
                <a:solidFill>
                  <a:srgbClr val="9AAFC6"/>
                </a:solidFill>
              </a:defRPr>
            </a:pPr>
            <a:r>
              <a:t>The full matrix is required if we want to trace back and reconstruct the exact subset of chosen items.</a:t>
            </a:r>
          </a:p>
        </p:txBody>
      </p:sp>
      <p:sp>
        <p:nvSpPr>
          <p:cNvPr id="11" name="Rounded Rectangle 10"/>
          <p:cNvSpPr/>
          <p:nvPr/>
        </p:nvSpPr>
        <p:spPr>
          <a:xfrm>
            <a:off x="8028432" y="1920240"/>
            <a:ext cx="3429000" cy="17373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2" y="2057400"/>
            <a:ext cx="2971800" cy="1463040"/>
          </a:xfrm>
          <a:prstGeom prst="rect">
            <a:avLst/>
          </a:prstGeom>
          <a:noFill/>
        </p:spPr>
        <p:txBody>
          <a:bodyPr wrap="square">
            <a:spAutoFit/>
          </a:bodyPr>
          <a:lstStyle/>
          <a:p>
            <a:pPr>
              <a:defRPr sz="1000" b="1">
                <a:solidFill>
                  <a:srgbClr val="7F93AB"/>
                </a:solidFill>
              </a:defRPr>
            </a:pPr>
            <a:r>
              <a:t>SPACE (VALUE ONLY)</a:t>
            </a:r>
          </a:p>
          <a:p>
            <a:pPr>
              <a:spcBef>
                <a:spcPts val="400"/>
              </a:spcBef>
              <a:defRPr sz="2400" b="1">
                <a:solidFill>
                  <a:srgbClr val="3D7EE8"/>
                </a:solidFill>
                <a:latin typeface="Georgia"/>
              </a:defRPr>
            </a:pPr>
            <a:r>
              <a:t>O(W)</a:t>
            </a:r>
          </a:p>
          <a:p>
            <a:pPr>
              <a:spcBef>
                <a:spcPts val="400"/>
              </a:spcBef>
              <a:defRPr sz="1100">
                <a:solidFill>
                  <a:srgbClr val="9AAFC6"/>
                </a:solidFill>
              </a:defRPr>
            </a:pPr>
            <a:r>
              <a:t>A single 1D array of length W + 1 suffices if we scan capacity downwards from W to wt[i].</a:t>
            </a:r>
          </a:p>
        </p:txBody>
      </p:sp>
      <p:sp>
        <p:nvSpPr>
          <p:cNvPr id="13" name="Rounded Rectangle 12"/>
          <p:cNvSpPr/>
          <p:nvPr/>
        </p:nvSpPr>
        <p:spPr>
          <a:xfrm>
            <a:off x="731520" y="3840480"/>
            <a:ext cx="5212080" cy="246888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977639"/>
            <a:ext cx="4754880" cy="2194560"/>
          </a:xfrm>
          <a:prstGeom prst="rect">
            <a:avLst/>
          </a:prstGeom>
          <a:noFill/>
        </p:spPr>
        <p:txBody>
          <a:bodyPr wrap="square">
            <a:spAutoFit/>
          </a:bodyPr>
          <a:lstStyle/>
          <a:p>
            <a:pPr>
              <a:defRPr sz="1100" b="1">
                <a:solidFill>
                  <a:srgbClr val="3D7EE8"/>
                </a:solidFill>
              </a:defRPr>
            </a:pPr>
            <a:r>
              <a:t>WHAT THE BOUND IS, AND IS NOT</a:t>
            </a:r>
          </a:p>
          <a:p>
            <a:pPr>
              <a:spcBef>
                <a:spcPts val="800"/>
              </a:spcBef>
              <a:defRPr sz="1100">
                <a:solidFill>
                  <a:srgbClr val="E7EEF8"/>
                </a:solidFill>
              </a:defRPr>
            </a:pPr>
            <a:r>
              <a:t>• O(n × W) is polynomial in n and the numeric magnitude of W.</a:t>
            </a:r>
            <a:br/>
            <a:r>
              <a:t>• However, W is encoded in binary using log2(W) bits. The runtime is therefore exponential in the length of the input: O(n · 2^B).</a:t>
            </a:r>
            <a:br/>
            <a:r>
              <a:t>• Hence, 0/1 Knapsack DP is pseudo-polynomial.</a:t>
            </a:r>
            <a:br/>
            <a:r>
              <a:t>• The decision problem is NP-Complete, but weakly NP-hard. When W is small or moderate, DP executes in milliseconds.</a:t>
            </a:r>
          </a:p>
        </p:txBody>
      </p:sp>
      <p:sp>
        <p:nvSpPr>
          <p:cNvPr id="15" name="Rounded Rectangle 14"/>
          <p:cNvSpPr/>
          <p:nvPr/>
        </p:nvSpPr>
        <p:spPr>
          <a:xfrm>
            <a:off x="6248095" y="3840480"/>
            <a:ext cx="5212080" cy="2468880"/>
          </a:xfrm>
          <a:prstGeom prst="roundRect">
            <a:avLst/>
          </a:prstGeom>
          <a:solidFill>
            <a:srgbClr val="0A1420"/>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6695" y="3977639"/>
            <a:ext cx="4754880" cy="2194560"/>
          </a:xfrm>
          <a:prstGeom prst="rect">
            <a:avLst/>
          </a:prstGeom>
          <a:noFill/>
        </p:spPr>
        <p:txBody>
          <a:bodyPr wrap="square">
            <a:spAutoFit/>
          </a:bodyPr>
          <a:lstStyle/>
          <a:p>
            <a:pPr>
              <a:defRPr sz="1100" b="1">
                <a:solidFill>
                  <a:srgbClr val="3D7EE8"/>
                </a:solidFill>
              </a:defRPr>
            </a:pPr>
            <a:r>
              <a:t>VALUE IN O(W) EXTRA SPACE</a:t>
            </a:r>
          </a:p>
          <a:p>
            <a:pPr>
              <a:spcBef>
                <a:spcPts val="600"/>
              </a:spcBef>
              <a:defRPr sz="1100">
                <a:solidFill>
                  <a:srgbClr val="E7EEF8"/>
                </a:solidFill>
                <a:latin typeface="Consolas"/>
              </a:defRPr>
            </a:pPr>
            <a:r>
              <a:t>dp[0..W] ← 0</a:t>
            </a:r>
            <a:br/>
            <a:r>
              <a:t>for i ← 1 to n do:</a:t>
            </a:r>
            <a:br/>
            <a:r>
              <a:t>    for w ← W downto wt[i] do:</a:t>
            </a:r>
            <a:br/>
            <a:r>
              <a:t>        dp[w] ← max(dp[w], val[i] + dp[w − wt[i]])</a:t>
            </a:r>
            <a:br/>
            <a:r>
              <a:t>return dp[W]</a:t>
            </a:r>
          </a:p>
          <a:p>
            <a:pPr>
              <a:spcBef>
                <a:spcPts val="600"/>
              </a:spcBef>
              <a:defRPr sz="1000" b="1">
                <a:solidFill>
                  <a:srgbClr val="D4A24C"/>
                </a:solidFill>
              </a:defRPr>
            </a:pPr>
            <a:r>
              <a:t>Critical: Downward loop order prevents reusing item i in the same row! (An upward scan solves the Unbounded Knapsack Problem).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sp>
        <p:nvSpPr>
          <p:cNvPr id="2" name="Rectangle 1"/>
          <p:cNvSpPr/>
          <p:nvPr/>
        </p:nvSpPr>
        <p:spPr>
          <a:xfrm>
            <a:off x="731520" y="365759"/>
            <a:ext cx="10728655" cy="45719"/>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365759"/>
            <a:ext cx="9681210" cy="45719"/>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728655" cy="276999"/>
          </a:xfrm>
          <a:prstGeom prst="rect">
            <a:avLst/>
          </a:prstGeom>
          <a:noFill/>
        </p:spPr>
        <p:txBody>
          <a:bodyPr wrap="square" lIns="0" tIns="0" rIns="0" bIns="0">
            <a:spAutoFit/>
          </a:bodyPr>
          <a:lstStyle/>
          <a:p>
            <a:r>
              <a:rPr sz="1100" b="1" dirty="0">
                <a:solidFill>
                  <a:srgbClr val="3D7EE8"/>
                </a:solidFill>
              </a:rPr>
              <a:t>DAA  </a:t>
            </a:r>
            <a:r>
              <a:rPr sz="1100" dirty="0">
                <a:solidFill>
                  <a:srgbClr val="9AAFC6"/>
                </a:solidFill>
              </a:rPr>
              <a:t>•  Design and Analysis of Algorithms</a:t>
            </a:r>
            <a:r>
              <a:rPr dirty="0"/>
              <a:t>                                                                                     </a:t>
            </a:r>
            <a:r>
              <a:rPr sz="1100" b="1" dirty="0">
                <a:solidFill>
                  <a:srgbClr val="7F93AB"/>
                </a:solidFill>
              </a:rPr>
              <a:t>10 / 1</a:t>
            </a:r>
            <a:r>
              <a:rPr lang="en-US" sz="1100" b="1" dirty="0">
                <a:solidFill>
                  <a:srgbClr val="7F93AB"/>
                </a:solidFill>
              </a:rPr>
              <a:t>1</a:t>
            </a:r>
            <a:endParaRPr sz="1100" b="1" dirty="0">
              <a:solidFill>
                <a:srgbClr val="7F93AB"/>
              </a:solidFill>
            </a:endParaRPr>
          </a:p>
        </p:txBody>
      </p:sp>
      <p:sp>
        <p:nvSpPr>
          <p:cNvPr id="5" name="TextBox 4"/>
          <p:cNvSpPr txBox="1"/>
          <p:nvPr/>
        </p:nvSpPr>
        <p:spPr>
          <a:xfrm>
            <a:off x="731520" y="914400"/>
            <a:ext cx="10728655" cy="274320"/>
          </a:xfrm>
          <a:prstGeom prst="rect">
            <a:avLst/>
          </a:prstGeom>
          <a:noFill/>
        </p:spPr>
        <p:txBody>
          <a:bodyPr wrap="none" lIns="0" tIns="0" rIns="0" bIns="0">
            <a:spAutoFit/>
          </a:bodyPr>
          <a:lstStyle/>
          <a:p>
            <a:pPr>
              <a:defRPr sz="1000" b="1">
                <a:solidFill>
                  <a:srgbClr val="3D7EE8"/>
                </a:solidFill>
              </a:defRPr>
            </a:pPr>
            <a:r>
              <a:t>10 — APPLICATIONS AND CONCLUSION</a:t>
            </a:r>
          </a:p>
        </p:txBody>
      </p:sp>
      <p:sp>
        <p:nvSpPr>
          <p:cNvPr id="6" name="TextBox 5"/>
          <p:cNvSpPr txBox="1"/>
          <p:nvPr/>
        </p:nvSpPr>
        <p:spPr>
          <a:xfrm>
            <a:off x="731520" y="1188720"/>
            <a:ext cx="10728655" cy="594360"/>
          </a:xfrm>
          <a:prstGeom prst="rect">
            <a:avLst/>
          </a:prstGeom>
          <a:noFill/>
        </p:spPr>
        <p:txBody>
          <a:bodyPr wrap="none" lIns="0" tIns="0" rIns="0" bIns="0">
            <a:spAutoFit/>
          </a:bodyPr>
          <a:lstStyle/>
          <a:p>
            <a:pPr>
              <a:defRPr sz="2400" b="1">
                <a:solidFill>
                  <a:srgbClr val="E7EEF8"/>
                </a:solidFill>
                <a:latin typeface="Georgia"/>
              </a:defRPr>
            </a:pPr>
            <a:r>
              <a:t>The same take-or-skip choice</a:t>
            </a:r>
          </a:p>
        </p:txBody>
      </p:sp>
      <p:sp>
        <p:nvSpPr>
          <p:cNvPr id="7" name="Rounded Rectangle 6"/>
          <p:cNvSpPr/>
          <p:nvPr/>
        </p:nvSpPr>
        <p:spPr>
          <a:xfrm>
            <a:off x="731520" y="1920240"/>
            <a:ext cx="6217920" cy="12801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057400"/>
            <a:ext cx="5760720" cy="1005840"/>
          </a:xfrm>
          <a:prstGeom prst="rect">
            <a:avLst/>
          </a:prstGeom>
          <a:noFill/>
        </p:spPr>
        <p:txBody>
          <a:bodyPr wrap="square">
            <a:spAutoFit/>
          </a:bodyPr>
          <a:lstStyle/>
          <a:p>
            <a:r>
              <a:rPr sz="1600" b="1">
                <a:solidFill>
                  <a:srgbClr val="3D7EE8"/>
                </a:solidFill>
                <a:latin typeface="Georgia"/>
              </a:rPr>
              <a:t>01   </a:t>
            </a:r>
            <a:r>
              <a:rPr sz="1300" b="1">
                <a:solidFill>
                  <a:srgbClr val="E7EEF8"/>
                </a:solidFill>
              </a:rPr>
              <a:t>Resource Allocation in Computing</a:t>
            </a:r>
          </a:p>
          <a:p>
            <a:pPr>
              <a:spcBef>
                <a:spcPts val="400"/>
              </a:spcBef>
              <a:defRPr sz="1100">
                <a:solidFill>
                  <a:srgbClr val="9AAFC6"/>
                </a:solidFill>
              </a:defRPr>
            </a:pPr>
            <a:r>
              <a:t>Servers have fixed memory and CPU limits W. Tasks must either run in full or be rejected. The DP table yields the optimal schedule maximizing total utility.</a:t>
            </a:r>
          </a:p>
        </p:txBody>
      </p:sp>
      <p:sp>
        <p:nvSpPr>
          <p:cNvPr id="9" name="Rounded Rectangle 8"/>
          <p:cNvSpPr/>
          <p:nvPr/>
        </p:nvSpPr>
        <p:spPr>
          <a:xfrm>
            <a:off x="731520" y="3337560"/>
            <a:ext cx="6217920" cy="12801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474720"/>
            <a:ext cx="5760720" cy="1005840"/>
          </a:xfrm>
          <a:prstGeom prst="rect">
            <a:avLst/>
          </a:prstGeom>
          <a:noFill/>
        </p:spPr>
        <p:txBody>
          <a:bodyPr wrap="square">
            <a:spAutoFit/>
          </a:bodyPr>
          <a:lstStyle/>
          <a:p>
            <a:r>
              <a:rPr sz="1600" b="1">
                <a:solidFill>
                  <a:srgbClr val="3D7EE8"/>
                </a:solidFill>
                <a:latin typeface="Georgia"/>
              </a:rPr>
              <a:t>02   </a:t>
            </a:r>
            <a:r>
              <a:rPr sz="1300" b="1">
                <a:solidFill>
                  <a:srgbClr val="E7EEF8"/>
                </a:solidFill>
              </a:rPr>
              <a:t>Capital Budgeting &amp; Portfolio Management</a:t>
            </a:r>
          </a:p>
          <a:p>
            <a:pPr>
              <a:spcBef>
                <a:spcPts val="400"/>
              </a:spcBef>
              <a:defRPr sz="1100">
                <a:solidFill>
                  <a:srgbClr val="9AAFC6"/>
                </a:solidFill>
              </a:defRPr>
            </a:pPr>
            <a:r>
              <a:t>Investment projects cannot be fractionally funded. Weight is expenditure, value is expected return, and W is the capital fund.</a:t>
            </a:r>
          </a:p>
        </p:txBody>
      </p:sp>
      <p:sp>
        <p:nvSpPr>
          <p:cNvPr id="11" name="Rounded Rectangle 10"/>
          <p:cNvSpPr/>
          <p:nvPr/>
        </p:nvSpPr>
        <p:spPr>
          <a:xfrm>
            <a:off x="731520" y="4754880"/>
            <a:ext cx="6217920" cy="1280160"/>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892040"/>
            <a:ext cx="5760720" cy="1005840"/>
          </a:xfrm>
          <a:prstGeom prst="rect">
            <a:avLst/>
          </a:prstGeom>
          <a:noFill/>
        </p:spPr>
        <p:txBody>
          <a:bodyPr wrap="square">
            <a:spAutoFit/>
          </a:bodyPr>
          <a:lstStyle/>
          <a:p>
            <a:r>
              <a:rPr sz="1600" b="1">
                <a:solidFill>
                  <a:srgbClr val="3D7EE8"/>
                </a:solidFill>
                <a:latin typeface="Georgia"/>
              </a:rPr>
              <a:t>03   </a:t>
            </a:r>
            <a:r>
              <a:rPr sz="1300" b="1">
                <a:solidFill>
                  <a:srgbClr val="E7EEF8"/>
                </a:solidFill>
              </a:rPr>
              <a:t>Cargo, Payload &amp; Logistics</a:t>
            </a:r>
          </a:p>
          <a:p>
            <a:pPr>
              <a:spcBef>
                <a:spcPts val="400"/>
              </a:spcBef>
              <a:defRPr sz="1100">
                <a:solidFill>
                  <a:srgbClr val="9AAFC6"/>
                </a:solidFill>
              </a:defRPr>
            </a:pPr>
            <a:r>
              <a:t>Vehicles, ships, or aircraft have payload limit W. Containers must be packed intact. Traceback is the loading manifest; the corner cell is best feasible revenue.</a:t>
            </a:r>
          </a:p>
        </p:txBody>
      </p:sp>
      <p:sp>
        <p:nvSpPr>
          <p:cNvPr id="13" name="Rounded Rectangle 12"/>
          <p:cNvSpPr/>
          <p:nvPr/>
        </p:nvSpPr>
        <p:spPr>
          <a:xfrm>
            <a:off x="7132320" y="1920240"/>
            <a:ext cx="4327855" cy="4251960"/>
          </a:xfrm>
          <a:prstGeom prst="roundRect">
            <a:avLst/>
          </a:prstGeom>
          <a:solidFill>
            <a:srgbClr val="101B2C"/>
          </a:solidFill>
          <a:ln w="12700">
            <a:solidFill>
              <a:srgbClr val="3D7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60920" y="2103120"/>
            <a:ext cx="3840480" cy="3931920"/>
          </a:xfrm>
          <a:prstGeom prst="rect">
            <a:avLst/>
          </a:prstGeom>
          <a:noFill/>
        </p:spPr>
        <p:txBody>
          <a:bodyPr wrap="square">
            <a:spAutoFit/>
          </a:bodyPr>
          <a:lstStyle/>
          <a:p>
            <a:pPr>
              <a:defRPr sz="1100" b="1">
                <a:solidFill>
                  <a:srgbClr val="3D7EE8"/>
                </a:solidFill>
              </a:defRPr>
            </a:pPr>
            <a:r>
              <a:rPr dirty="0"/>
              <a:t>CORE TAKEAWAYS TO REMEMBER</a:t>
            </a:r>
          </a:p>
          <a:p>
            <a:pPr>
              <a:spcBef>
                <a:spcPts val="1200"/>
              </a:spcBef>
              <a:defRPr sz="1200">
                <a:solidFill>
                  <a:srgbClr val="E7EEF8"/>
                </a:solidFill>
              </a:defRPr>
            </a:pPr>
            <a:r>
              <a:rPr dirty="0"/>
              <a:t>1. Subsets, Not Fractions</a:t>
            </a:r>
            <a:br>
              <a:rPr dirty="0"/>
            </a:br>
            <a:r>
              <a:rPr dirty="0"/>
              <a:t>Density greedy achieves value 8 and fails; DP achieves value 9.</a:t>
            </a:r>
          </a:p>
          <a:p>
            <a:pPr>
              <a:spcBef>
                <a:spcPts val="1000"/>
              </a:spcBef>
              <a:defRPr sz="1200">
                <a:solidFill>
                  <a:srgbClr val="E7EEF8"/>
                </a:solidFill>
              </a:defRPr>
            </a:pPr>
            <a:r>
              <a:rPr dirty="0"/>
              <a:t>2. Bellman Recurrence</a:t>
            </a:r>
            <a:br>
              <a:rPr dirty="0"/>
            </a:br>
            <a:r>
              <a:rPr dirty="0" err="1"/>
              <a:t>dp</a:t>
            </a:r>
            <a:r>
              <a:rPr dirty="0"/>
              <a:t>[</a:t>
            </a:r>
            <a:r>
              <a:rPr dirty="0" err="1"/>
              <a:t>i</a:t>
            </a:r>
            <a:r>
              <a:rPr dirty="0"/>
              <a:t>][w] = max(</a:t>
            </a:r>
            <a:r>
              <a:rPr dirty="0" err="1"/>
              <a:t>dp</a:t>
            </a:r>
            <a:r>
              <a:rPr dirty="0"/>
              <a:t>[i−1][w], </a:t>
            </a:r>
            <a:r>
              <a:rPr dirty="0" err="1"/>
              <a:t>val</a:t>
            </a:r>
            <a:r>
              <a:rPr dirty="0"/>
              <a:t>[</a:t>
            </a:r>
            <a:r>
              <a:rPr dirty="0" err="1"/>
              <a:t>i</a:t>
            </a:r>
            <a:r>
              <a:rPr dirty="0"/>
              <a:t>] + </a:t>
            </a:r>
            <a:r>
              <a:rPr dirty="0" err="1"/>
              <a:t>dp</a:t>
            </a:r>
            <a:r>
              <a:rPr dirty="0"/>
              <a:t>[i−1][w−</a:t>
            </a:r>
            <a:r>
              <a:rPr dirty="0" err="1"/>
              <a:t>wt</a:t>
            </a:r>
            <a:r>
              <a:rPr dirty="0"/>
              <a:t>[</a:t>
            </a:r>
            <a:r>
              <a:rPr dirty="0" err="1"/>
              <a:t>i</a:t>
            </a:r>
            <a:r>
              <a:rPr dirty="0"/>
              <a:t>]]) when </a:t>
            </a:r>
            <a:r>
              <a:rPr dirty="0" err="1"/>
              <a:t>wt</a:t>
            </a:r>
            <a:r>
              <a:rPr dirty="0"/>
              <a:t>[</a:t>
            </a:r>
            <a:r>
              <a:rPr dirty="0" err="1"/>
              <a:t>i</a:t>
            </a:r>
            <a:r>
              <a:rPr dirty="0"/>
              <a:t>] ≤ w.</a:t>
            </a:r>
          </a:p>
          <a:p>
            <a:pPr>
              <a:spcBef>
                <a:spcPts val="1000"/>
              </a:spcBef>
              <a:defRPr sz="1200">
                <a:solidFill>
                  <a:srgbClr val="E7EEF8"/>
                </a:solidFill>
              </a:defRPr>
            </a:pPr>
            <a:r>
              <a:rPr dirty="0"/>
              <a:t>3. O(n × W) Fill &amp; Traceback</a:t>
            </a:r>
            <a:br>
              <a:rPr dirty="0"/>
            </a:br>
            <a:r>
              <a:rPr dirty="0"/>
              <a:t>Fill matrix in O(</a:t>
            </a:r>
            <a:r>
              <a:rPr dirty="0" err="1"/>
              <a:t>n·W</a:t>
            </a:r>
            <a:r>
              <a:rPr dirty="0"/>
              <a:t>); walk backwards from corner cell in O(n) to recover chosen set.</a:t>
            </a:r>
          </a:p>
          <a:p>
            <a:pPr>
              <a:spcBef>
                <a:spcPts val="1600"/>
              </a:spcBef>
            </a:pPr>
            <a:r>
              <a:rPr sz="1600" b="1" dirty="0">
                <a:solidFill>
                  <a:srgbClr val="E7EEF8"/>
                </a:solidFill>
                <a:latin typeface="Georgia"/>
              </a:rPr>
              <a:t>Final Solution: Manuscript &amp; Lens
</a:t>
            </a:r>
            <a:r>
              <a:rPr sz="1400" b="1" dirty="0">
                <a:solidFill>
                  <a:srgbClr val="10B981"/>
                </a:solidFill>
              </a:rPr>
              <a:t>Weight: 7 kg   •   Optimal Value: 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a:extLst>
            <a:ext uri="{FF2B5EF4-FFF2-40B4-BE49-F238E27FC236}">
              <a16:creationId xmlns:a16="http://schemas.microsoft.com/office/drawing/2014/main" id="{CDD22EFF-8685-19D2-40B0-AE18B3F13C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36297C-E51B-18E8-432E-8385A6924787}"/>
              </a:ext>
            </a:extLst>
          </p:cNvPr>
          <p:cNvSpPr txBox="1"/>
          <p:nvPr/>
        </p:nvSpPr>
        <p:spPr>
          <a:xfrm>
            <a:off x="731520" y="502920"/>
            <a:ext cx="7404591" cy="369332"/>
          </a:xfrm>
          <a:prstGeom prst="rect">
            <a:avLst/>
          </a:prstGeom>
          <a:noFill/>
        </p:spPr>
        <p:txBody>
          <a:bodyPr wrap="none">
            <a:spAutoFit/>
          </a:bodyPr>
          <a:lstStyle/>
          <a:p>
            <a:r>
              <a:rPr sz="1100" b="1" dirty="0">
                <a:solidFill>
                  <a:srgbClr val="3D7EE8"/>
                </a:solidFill>
              </a:rPr>
              <a:t>DAA  </a:t>
            </a:r>
            <a:r>
              <a:rPr sz="1100" dirty="0">
                <a:solidFill>
                  <a:srgbClr val="9AAFC6"/>
                </a:solidFill>
              </a:rPr>
              <a:t>•  Design and Analysis of Algorithms</a:t>
            </a:r>
            <a:r>
              <a:rPr dirty="0"/>
              <a:t>                                                                                     </a:t>
            </a:r>
            <a:r>
              <a:rPr lang="en-US" sz="1100" b="1" dirty="0">
                <a:solidFill>
                  <a:srgbClr val="7F93AB"/>
                </a:solidFill>
              </a:rPr>
              <a:t>1</a:t>
            </a:r>
            <a:r>
              <a:rPr sz="1100" b="1" dirty="0">
                <a:solidFill>
                  <a:srgbClr val="7F93AB"/>
                </a:solidFill>
              </a:rPr>
              <a:t>1 / </a:t>
            </a:r>
            <a:r>
              <a:rPr lang="en-US" sz="1100" b="1" dirty="0">
                <a:solidFill>
                  <a:srgbClr val="7F93AB"/>
                </a:solidFill>
              </a:rPr>
              <a:t>11</a:t>
            </a:r>
            <a:endParaRPr sz="1100" b="1" dirty="0">
              <a:solidFill>
                <a:srgbClr val="7F93AB"/>
              </a:solidFill>
            </a:endParaRPr>
          </a:p>
        </p:txBody>
      </p:sp>
      <p:sp>
        <p:nvSpPr>
          <p:cNvPr id="3" name="TextBox 2">
            <a:extLst>
              <a:ext uri="{FF2B5EF4-FFF2-40B4-BE49-F238E27FC236}">
                <a16:creationId xmlns:a16="http://schemas.microsoft.com/office/drawing/2014/main" id="{7111E7FE-45E2-C459-D283-C990AD29DBBD}"/>
              </a:ext>
            </a:extLst>
          </p:cNvPr>
          <p:cNvSpPr txBox="1"/>
          <p:nvPr/>
        </p:nvSpPr>
        <p:spPr>
          <a:xfrm>
            <a:off x="731520" y="1645920"/>
            <a:ext cx="6217920" cy="2990562"/>
          </a:xfrm>
          <a:prstGeom prst="rect">
            <a:avLst/>
          </a:prstGeom>
          <a:noFill/>
        </p:spPr>
        <p:txBody>
          <a:bodyPr wrap="square">
            <a:spAutoFit/>
          </a:bodyPr>
          <a:lstStyle/>
          <a:p>
            <a:pPr>
              <a:defRPr sz="1100" b="1">
                <a:solidFill>
                  <a:srgbClr val="3D7EE8"/>
                </a:solidFill>
              </a:defRPr>
            </a:pPr>
            <a:r>
              <a:rPr dirty="0"/>
              <a:t>DESIGN AND ANALYSIS OF ALGORITHMS</a:t>
            </a:r>
          </a:p>
          <a:p>
            <a:pPr>
              <a:spcBef>
                <a:spcPts val="1600"/>
              </a:spcBef>
              <a:defRPr sz="4400" b="1">
                <a:solidFill>
                  <a:srgbClr val="E7EEF8"/>
                </a:solidFill>
                <a:latin typeface="Georgia"/>
              </a:defRPr>
            </a:pPr>
            <a:r>
              <a:rPr lang="en-US" dirty="0"/>
              <a:t>THANK YOU</a:t>
            </a:r>
            <a:endParaRPr dirty="0"/>
          </a:p>
          <a:p>
            <a:pPr>
              <a:spcBef>
                <a:spcPts val="1600"/>
              </a:spcBef>
              <a:defRPr sz="2000" i="1">
                <a:solidFill>
                  <a:srgbClr val="9AAFC6"/>
                </a:solidFill>
                <a:latin typeface="Georgia"/>
              </a:defRPr>
            </a:pPr>
            <a:r>
              <a:rPr lang="en-US" sz="2000" i="1" dirty="0">
                <a:solidFill>
                  <a:srgbClr val="9AAFC6"/>
                </a:solidFill>
                <a:latin typeface="Georgia"/>
              </a:rPr>
              <a:t>0/1 Knapsack Problem — Dynamic Programming Approach</a:t>
            </a:r>
          </a:p>
          <a:p>
            <a:pPr>
              <a:spcBef>
                <a:spcPts val="1600"/>
              </a:spcBef>
              <a:defRPr sz="2000" i="1">
                <a:solidFill>
                  <a:srgbClr val="9AAFC6"/>
                </a:solidFill>
                <a:latin typeface="Georgia"/>
              </a:defRPr>
            </a:pPr>
            <a:endParaRPr lang="en-US" sz="2000" i="1" dirty="0">
              <a:solidFill>
                <a:srgbClr val="9AAFC6"/>
              </a:solidFill>
              <a:latin typeface="Georgia"/>
            </a:endParaRPr>
          </a:p>
          <a:p>
            <a:pPr>
              <a:spcBef>
                <a:spcPts val="1600"/>
              </a:spcBef>
              <a:defRPr sz="2000" i="1">
                <a:solidFill>
                  <a:srgbClr val="9AAFC6"/>
                </a:solidFill>
                <a:latin typeface="Georgia"/>
              </a:defRPr>
            </a:pPr>
            <a:r>
              <a:rPr lang="en-US" dirty="0"/>
              <a:t>- </a:t>
            </a:r>
            <a:r>
              <a:rPr dirty="0"/>
              <a:t>Generated using Grok  </a:t>
            </a:r>
          </a:p>
        </p:txBody>
      </p:sp>
      <p:sp>
        <p:nvSpPr>
          <p:cNvPr id="4" name="Rounded Rectangle 3">
            <a:extLst>
              <a:ext uri="{FF2B5EF4-FFF2-40B4-BE49-F238E27FC236}">
                <a16:creationId xmlns:a16="http://schemas.microsoft.com/office/drawing/2014/main" id="{F5EEB22F-37B6-8F8F-038D-78448321C326}"/>
              </a:ext>
            </a:extLst>
          </p:cNvPr>
          <p:cNvSpPr/>
          <p:nvPr/>
        </p:nvSpPr>
        <p:spPr>
          <a:xfrm>
            <a:off x="7315200" y="1645920"/>
            <a:ext cx="4114800" cy="2990562"/>
          </a:xfrm>
          <a:prstGeom prst="roundRect">
            <a:avLst/>
          </a:prstGeom>
          <a:solidFill>
            <a:srgbClr val="101B2C"/>
          </a:solidFill>
          <a:ln w="12700">
            <a:solidFill>
              <a:srgbClr val="2C41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0EA4BC3-585C-000D-3580-DC57BF1C50DB}"/>
              </a:ext>
            </a:extLst>
          </p:cNvPr>
          <p:cNvSpPr txBox="1"/>
          <p:nvPr/>
        </p:nvSpPr>
        <p:spPr>
          <a:xfrm>
            <a:off x="7589520" y="1828800"/>
            <a:ext cx="3566160" cy="2123658"/>
          </a:xfrm>
          <a:prstGeom prst="rect">
            <a:avLst/>
          </a:prstGeom>
          <a:noFill/>
        </p:spPr>
        <p:txBody>
          <a:bodyPr wrap="square">
            <a:spAutoFit/>
          </a:bodyPr>
          <a:lstStyle/>
          <a:p>
            <a:pPr>
              <a:defRPr sz="1000" b="1">
                <a:solidFill>
                  <a:srgbClr val="7F93AB"/>
                </a:solidFill>
              </a:defRPr>
            </a:pPr>
            <a:r>
              <a:rPr lang="en-US" sz="1200" b="1" dirty="0">
                <a:solidFill>
                  <a:srgbClr val="7F93AB"/>
                </a:solidFill>
              </a:rPr>
              <a:t>CORE TAKEAWAYS</a:t>
            </a:r>
          </a:p>
          <a:p>
            <a:pPr>
              <a:defRPr sz="1000" b="1">
                <a:solidFill>
                  <a:srgbClr val="7F93AB"/>
                </a:solidFill>
              </a:defRPr>
            </a:pPr>
            <a:endParaRPr lang="en-US" sz="1000" b="1" dirty="0">
              <a:solidFill>
                <a:srgbClr val="7F93AB"/>
              </a:solidFill>
            </a:endParaRPr>
          </a:p>
          <a:p>
            <a:pPr>
              <a:defRPr sz="1000" b="1">
                <a:solidFill>
                  <a:srgbClr val="7F93AB"/>
                </a:solidFill>
              </a:defRPr>
            </a:pPr>
            <a:r>
              <a:rPr sz="1600" b="1" dirty="0">
                <a:solidFill>
                  <a:srgbClr val="3D7EE8"/>
                </a:solidFill>
                <a:latin typeface="Georgia"/>
              </a:rPr>
              <a:t>01   </a:t>
            </a:r>
            <a:r>
              <a:rPr lang="en-US" sz="1400" b="1" dirty="0">
                <a:solidFill>
                  <a:schemeClr val="bg1"/>
                </a:solidFill>
              </a:rPr>
              <a:t>Greedy by density → value 8 (suboptimal)</a:t>
            </a:r>
          </a:p>
          <a:p>
            <a:pPr>
              <a:defRPr sz="1000" b="1">
                <a:solidFill>
                  <a:srgbClr val="7F93AB"/>
                </a:solidFill>
              </a:defRPr>
            </a:pPr>
            <a:endParaRPr lang="en-US" sz="1000" b="1" dirty="0">
              <a:solidFill>
                <a:srgbClr val="7F93AB"/>
              </a:solidFill>
              <a:latin typeface="Georgia"/>
            </a:endParaRPr>
          </a:p>
          <a:p>
            <a:pPr>
              <a:defRPr sz="1000" b="1">
                <a:solidFill>
                  <a:srgbClr val="7F93AB"/>
                </a:solidFill>
              </a:defRPr>
            </a:pPr>
            <a:r>
              <a:rPr sz="1600" b="1" dirty="0">
                <a:solidFill>
                  <a:srgbClr val="3D7EE8"/>
                </a:solidFill>
                <a:latin typeface="Georgia"/>
              </a:rPr>
              <a:t>02   </a:t>
            </a:r>
            <a:r>
              <a:rPr lang="en-US" sz="1400" b="1" dirty="0">
                <a:solidFill>
                  <a:schemeClr val="bg1"/>
                </a:solidFill>
              </a:rPr>
              <a:t>Dynamic Programming → value 9 (optimal: Manuscript + Lens)</a:t>
            </a:r>
          </a:p>
          <a:p>
            <a:pPr>
              <a:defRPr sz="1000" b="1">
                <a:solidFill>
                  <a:srgbClr val="7F93AB"/>
                </a:solidFill>
              </a:defRPr>
            </a:pPr>
            <a:endParaRPr lang="en-US" sz="1000" b="1" dirty="0">
              <a:solidFill>
                <a:srgbClr val="7F93AB"/>
              </a:solidFill>
              <a:latin typeface="Georgia"/>
            </a:endParaRPr>
          </a:p>
          <a:p>
            <a:pPr>
              <a:defRPr sz="1000" b="1">
                <a:solidFill>
                  <a:srgbClr val="7F93AB"/>
                </a:solidFill>
              </a:defRPr>
            </a:pPr>
            <a:r>
              <a:rPr sz="1600" b="1" dirty="0">
                <a:solidFill>
                  <a:srgbClr val="3D7EE8"/>
                </a:solidFill>
                <a:latin typeface="Georgia"/>
              </a:rPr>
              <a:t>03   </a:t>
            </a:r>
            <a:r>
              <a:rPr lang="en-US" sz="1400" b="1" dirty="0">
                <a:solidFill>
                  <a:schemeClr val="bg1"/>
                </a:solidFill>
              </a:rPr>
              <a:t>Fill: O(n × W) · Traceback: O(n) · Pseudo-polynomial time</a:t>
            </a:r>
            <a:endParaRPr lang="en-US" sz="1200" b="1" dirty="0">
              <a:solidFill>
                <a:schemeClr val="bg1"/>
              </a:solidFill>
            </a:endParaRPr>
          </a:p>
        </p:txBody>
      </p:sp>
      <p:sp>
        <p:nvSpPr>
          <p:cNvPr id="7" name="TextBox 6">
            <a:extLst>
              <a:ext uri="{FF2B5EF4-FFF2-40B4-BE49-F238E27FC236}">
                <a16:creationId xmlns:a16="http://schemas.microsoft.com/office/drawing/2014/main" id="{BCF083A5-8E5F-07FE-49B6-41D2EA6066B1}"/>
              </a:ext>
            </a:extLst>
          </p:cNvPr>
          <p:cNvSpPr txBox="1"/>
          <p:nvPr/>
        </p:nvSpPr>
        <p:spPr>
          <a:xfrm>
            <a:off x="829843" y="914400"/>
            <a:ext cx="947375" cy="153888"/>
          </a:xfrm>
          <a:prstGeom prst="rect">
            <a:avLst/>
          </a:prstGeom>
          <a:noFill/>
        </p:spPr>
        <p:txBody>
          <a:bodyPr wrap="none" lIns="0" tIns="0" rIns="0" bIns="0">
            <a:spAutoFit/>
          </a:bodyPr>
          <a:lstStyle/>
          <a:p>
            <a:pPr>
              <a:defRPr sz="1000" b="1">
                <a:solidFill>
                  <a:srgbClr val="3D7EE8"/>
                </a:solidFill>
              </a:defRPr>
            </a:pPr>
            <a:r>
              <a:rPr dirty="0"/>
              <a:t>1</a:t>
            </a:r>
            <a:r>
              <a:rPr lang="en-US" dirty="0"/>
              <a:t>1</a:t>
            </a:r>
            <a:r>
              <a:rPr dirty="0"/>
              <a:t> — </a:t>
            </a:r>
            <a:r>
              <a:rPr lang="en-US" dirty="0"/>
              <a:t>THANK YOU</a:t>
            </a:r>
            <a:endParaRPr dirty="0"/>
          </a:p>
        </p:txBody>
      </p:sp>
      <p:sp>
        <p:nvSpPr>
          <p:cNvPr id="9" name="Rectangle 8">
            <a:extLst>
              <a:ext uri="{FF2B5EF4-FFF2-40B4-BE49-F238E27FC236}">
                <a16:creationId xmlns:a16="http://schemas.microsoft.com/office/drawing/2014/main" id="{75BF44E7-B903-260D-5456-25C268C56E8A}"/>
              </a:ext>
            </a:extLst>
          </p:cNvPr>
          <p:cNvSpPr/>
          <p:nvPr/>
        </p:nvSpPr>
        <p:spPr>
          <a:xfrm>
            <a:off x="731520" y="365760"/>
            <a:ext cx="10728655" cy="36576"/>
          </a:xfrm>
          <a:prstGeom prst="rect">
            <a:avLst/>
          </a:prstGeom>
          <a:solidFill>
            <a:srgbClr val="2C4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9A91C53-85FD-A721-A362-A3CFE21AEC83}"/>
              </a:ext>
            </a:extLst>
          </p:cNvPr>
          <p:cNvSpPr/>
          <p:nvPr/>
        </p:nvSpPr>
        <p:spPr>
          <a:xfrm>
            <a:off x="731519" y="365759"/>
            <a:ext cx="10728655" cy="45719"/>
          </a:xfrm>
          <a:prstGeom prst="rect">
            <a:avLst/>
          </a:prstGeom>
          <a:solidFill>
            <a:srgbClr val="3D7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3AFF9BE-D8D0-34FF-59D5-88E6674C3607}"/>
              </a:ext>
            </a:extLst>
          </p:cNvPr>
          <p:cNvSpPr txBox="1"/>
          <p:nvPr/>
        </p:nvSpPr>
        <p:spPr>
          <a:xfrm>
            <a:off x="2620367" y="6122908"/>
            <a:ext cx="6950957" cy="369332"/>
          </a:xfrm>
          <a:prstGeom prst="rect">
            <a:avLst/>
          </a:prstGeom>
          <a:noFill/>
        </p:spPr>
        <p:txBody>
          <a:bodyPr wrap="square" rtlCol="0">
            <a:spAutoFit/>
          </a:bodyPr>
          <a:lstStyle/>
          <a:p>
            <a:pPr algn="ctr"/>
            <a:r>
              <a:rPr lang="en-US" b="1" dirty="0">
                <a:solidFill>
                  <a:srgbClr val="00B0F0"/>
                </a:solidFill>
              </a:rPr>
              <a:t>Name : Parv Pahuja | PRN : 25070521089 | Section : B | Subject : DAA</a:t>
            </a:r>
          </a:p>
        </p:txBody>
      </p:sp>
    </p:spTree>
    <p:extLst>
      <p:ext uri="{BB962C8B-B14F-4D97-AF65-F5344CB8AC3E}">
        <p14:creationId xmlns:p14="http://schemas.microsoft.com/office/powerpoint/2010/main" val="2341618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3772</Words>
  <Application>Microsoft Office PowerPoint</Application>
  <PresentationFormat>Widescreen</PresentationFormat>
  <Paragraphs>287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parvpahuja@outlook.com</cp:lastModifiedBy>
  <cp:revision>5</cp:revision>
  <dcterms:created xsi:type="dcterms:W3CDTF">2013-01-27T09:14:16Z</dcterms:created>
  <dcterms:modified xsi:type="dcterms:W3CDTF">2026-10-19T14:49:32Z</dcterms:modified>
  <cp:category/>
</cp:coreProperties>
</file>